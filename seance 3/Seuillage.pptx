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0"/>
  </p:notesMasterIdLst>
  <p:sldIdLst>
    <p:sldId id="508" r:id="rId2"/>
    <p:sldId id="509" r:id="rId3"/>
    <p:sldId id="510" r:id="rId4"/>
    <p:sldId id="511" r:id="rId5"/>
    <p:sldId id="512" r:id="rId6"/>
    <p:sldId id="513" r:id="rId7"/>
    <p:sldId id="514" r:id="rId8"/>
    <p:sldId id="515" r:id="rId9"/>
    <p:sldId id="516" r:id="rId10"/>
    <p:sldId id="517" r:id="rId11"/>
    <p:sldId id="534" r:id="rId12"/>
    <p:sldId id="524" r:id="rId13"/>
    <p:sldId id="526" r:id="rId14"/>
    <p:sldId id="525" r:id="rId15"/>
    <p:sldId id="535" r:id="rId16"/>
    <p:sldId id="527" r:id="rId17"/>
    <p:sldId id="529" r:id="rId18"/>
    <p:sldId id="528" r:id="rId19"/>
    <p:sldId id="530" r:id="rId20"/>
    <p:sldId id="532" r:id="rId21"/>
    <p:sldId id="533" r:id="rId22"/>
    <p:sldId id="531" r:id="rId23"/>
    <p:sldId id="518" r:id="rId24"/>
    <p:sldId id="519" r:id="rId25"/>
    <p:sldId id="520" r:id="rId26"/>
    <p:sldId id="521" r:id="rId27"/>
    <p:sldId id="522" r:id="rId28"/>
    <p:sldId id="523" r:id="rId29"/>
  </p:sldIdLst>
  <p:sldSz cx="12192000" cy="6858000"/>
  <p:notesSz cx="7099300" cy="10234613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9B"/>
    <a:srgbClr val="FF0000"/>
    <a:srgbClr val="0000FF"/>
    <a:srgbClr val="FF3300"/>
    <a:srgbClr val="FFFF00"/>
    <a:srgbClr val="E6EEAA"/>
    <a:srgbClr val="FF9933"/>
    <a:srgbClr val="F2F2F8"/>
    <a:srgbClr val="E0E0F0"/>
    <a:srgbClr val="5050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8" autoAdjust="0"/>
    <p:restoredTop sz="94660"/>
  </p:normalViewPr>
  <p:slideViewPr>
    <p:cSldViewPr>
      <p:cViewPr varScale="1">
        <p:scale>
          <a:sx n="84" d="100"/>
          <a:sy n="84" d="100"/>
        </p:scale>
        <p:origin x="442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48988E4-F181-416E-97CC-88E88A15682F}" type="datetimeFigureOut">
              <a:rPr lang="fr-FR"/>
              <a:pPr>
                <a:defRPr/>
              </a:pPr>
              <a:t>16/10/2025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09824DC5-D713-4AA5-B7A5-F68CA229AFA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fr-FR" altLang="fr-FR" sz="2400" smtClean="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 sz="2400" smtClean="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7717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17717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5993B0-5F0D-4419-AB5C-B4A0F4CB9F01}" type="datetime1">
              <a:rPr lang="fr-FR" smtClean="0"/>
              <a:t>16/10/2025</a:t>
            </a:fld>
            <a:endParaRPr lang="fr-FR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28C2D-6901-47AB-AB7B-96FCE0833805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94180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67D3F-D454-4654-AB69-A17C6566BF85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11E01-13DE-43D4-8198-71A85ADD6F4E}" type="datetime1">
              <a:rPr lang="fr-FR" smtClean="0"/>
              <a:t>16/10/2025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041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AE4E85-9ACD-47A7-9350-D1E30068D7D6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6E7774-93C4-4A5D-9500-32C38D2E85EE}" type="datetime1">
              <a:rPr lang="fr-FR" smtClean="0"/>
              <a:t>16/10/2025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683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E25EAB-4226-46BD-A493-B45963FA4D7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09FFC-120A-42A2-8169-281E90650957}" type="datetime1">
              <a:rPr lang="fr-FR" smtClean="0"/>
              <a:t>16/10/2025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473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530037-911D-443A-ADB6-4B659566453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C9E140-E558-4859-9282-C36F83B41283}" type="datetime1">
              <a:rPr lang="fr-FR" smtClean="0"/>
              <a:t>16/10/2025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3059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C6E6E6-7E7F-4842-AF72-BD182E80A935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C41D18-3995-4C51-9BE7-D08FA333EED6}" type="datetime1">
              <a:rPr lang="fr-FR" smtClean="0"/>
              <a:t>16/10/2025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637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870D7-2D67-402E-85EE-615E378DD195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0CF40-A20F-4EC4-A0AA-375391304AE0}" type="datetime1">
              <a:rPr lang="fr-FR" smtClean="0"/>
              <a:t>16/10/2025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2080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059AC-ECB0-41D1-8F25-3CA06747B749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9A99F-99E7-4141-8B9E-88A05902C17C}" type="datetime1">
              <a:rPr lang="fr-FR" smtClean="0"/>
              <a:t>16/10/2025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772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D65D7B-CE20-4ECF-AA70-5FE77826471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97A52-93CC-42CD-ABFE-9A26D592B0DE}" type="datetime1">
              <a:rPr lang="fr-FR" smtClean="0"/>
              <a:t>16/10/2025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67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9DF169-9DD8-4929-8129-78E976AF407C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D70588-8F75-40BF-9EB6-CBE68D521BD6}" type="datetime1">
              <a:rPr lang="fr-FR" smtClean="0"/>
              <a:t>16/10/2025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921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9DFF87-8C50-4A79-BD74-03A205B6A058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04C4EF-2D0A-467C-8D9A-20303C453A59}" type="datetime1">
              <a:rPr lang="fr-FR" smtClean="0"/>
              <a:t>16/10/2025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5667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92D2D7-C545-4CA6-8835-74F2AF77FCA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EAD798-E558-406D-B3CE-CB38BBA7F381}" type="datetime1">
              <a:rPr lang="fr-FR" smtClean="0"/>
              <a:t>16/10/2025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3737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44291B-2AA3-4970-BDF3-9A917E07D6CA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E5262E-19D4-4A9E-A198-6DAB7C76B7D7}" type="datetime1">
              <a:rPr lang="fr-FR" smtClean="0"/>
              <a:t>16/10/2025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582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B9741A35-8283-431E-AAD5-5AF40B62D4F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fr-FR" altLang="fr-FR" sz="2400" smtClean="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 sz="2400" smtClean="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 sz="1800" smtClean="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 sz="1800" smtClean="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 sz="1800" smtClean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 sz="1800" smtClean="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 sz="2400" smtClean="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 sz="1800" smtClean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 sz="1800" smtClean="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7614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3D16DBE6-F2E5-4B72-83E1-BDE87FC7B636}" type="datetime1">
              <a:rPr lang="fr-FR" smtClean="0"/>
              <a:t>16/10/2025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8" r:id="rId1"/>
    <p:sldLayoutId id="2147484036" r:id="rId2"/>
    <p:sldLayoutId id="2147484037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  <p:sldLayoutId id="2147484044" r:id="rId10"/>
    <p:sldLayoutId id="2147484045" r:id="rId11"/>
    <p:sldLayoutId id="2147484046" r:id="rId12"/>
    <p:sldLayoutId id="2147484047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altLang="fr-FR" dirty="0" smtClean="0"/>
              <a:t>Seuillage</a:t>
            </a:r>
          </a:p>
        </p:txBody>
      </p:sp>
      <p:sp>
        <p:nvSpPr>
          <p:cNvPr id="4099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altLang="fr-FR" dirty="0" smtClean="0"/>
              <a:t>Pr. </a:t>
            </a:r>
            <a:r>
              <a:rPr lang="fr-FR" altLang="fr-FR" dirty="0" err="1" smtClean="0"/>
              <a:t>Issam</a:t>
            </a:r>
            <a:r>
              <a:rPr lang="fr-FR" altLang="fr-FR" dirty="0" smtClean="0"/>
              <a:t> QAFFOU</a:t>
            </a:r>
          </a:p>
        </p:txBody>
      </p:sp>
      <p:sp>
        <p:nvSpPr>
          <p:cNvPr id="2" name="Rectangle 1"/>
          <p:cNvSpPr/>
          <p:nvPr/>
        </p:nvSpPr>
        <p:spPr>
          <a:xfrm>
            <a:off x="4583832" y="908720"/>
            <a:ext cx="864096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95536"/>
          </a:xfrm>
        </p:spPr>
        <p:txBody>
          <a:bodyPr/>
          <a:lstStyle/>
          <a:p>
            <a:r>
              <a:rPr lang="fr-FR" sz="3600" dirty="0" smtClean="0"/>
              <a:t>Plan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00808"/>
            <a:ext cx="10972800" cy="4547592"/>
          </a:xfrm>
        </p:spPr>
        <p:txBody>
          <a:bodyPr/>
          <a:lstStyle/>
          <a:p>
            <a:r>
              <a:rPr lang="fr-FR" dirty="0" smtClean="0"/>
              <a:t>Introduction</a:t>
            </a:r>
          </a:p>
          <a:p>
            <a:r>
              <a:rPr lang="fr-FR" dirty="0" smtClean="0"/>
              <a:t>Définition</a:t>
            </a:r>
          </a:p>
          <a:p>
            <a:r>
              <a:rPr lang="fr-FR" dirty="0" smtClean="0"/>
              <a:t>Utilité</a:t>
            </a:r>
          </a:p>
          <a:p>
            <a:r>
              <a:rPr lang="fr-FR" dirty="0" smtClean="0"/>
              <a:t>Types de seuillage</a:t>
            </a:r>
          </a:p>
          <a:p>
            <a:r>
              <a:rPr lang="fr-FR" dirty="0" smtClean="0"/>
              <a:t>Application</a:t>
            </a:r>
          </a:p>
          <a:p>
            <a:r>
              <a:rPr lang="fr-FR" dirty="0" smtClean="0"/>
              <a:t>Limites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2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4040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95536"/>
          </a:xfrm>
        </p:spPr>
        <p:txBody>
          <a:bodyPr/>
          <a:lstStyle/>
          <a:p>
            <a:r>
              <a:rPr lang="fr-FR" sz="3600" dirty="0" smtClean="0"/>
              <a:t>Introduction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28800"/>
            <a:ext cx="10972800" cy="4619600"/>
          </a:xfrm>
        </p:spPr>
        <p:txBody>
          <a:bodyPr/>
          <a:lstStyle/>
          <a:p>
            <a:r>
              <a:rPr lang="fr-FR" sz="2800" dirty="0"/>
              <a:t>En traitement d’images, l’un des objectifs principaux est de </a:t>
            </a:r>
            <a:r>
              <a:rPr lang="fr-FR" sz="2800" b="1" dirty="0"/>
              <a:t>séparer l’objet d’intérêt (avant-plan)</a:t>
            </a:r>
            <a:r>
              <a:rPr lang="fr-FR" sz="2800" dirty="0"/>
              <a:t> du </a:t>
            </a:r>
            <a:r>
              <a:rPr lang="fr-FR" sz="2800" b="1" dirty="0"/>
              <a:t>fond (arrière-plan)</a:t>
            </a:r>
            <a:r>
              <a:rPr lang="fr-FR" sz="2800" dirty="0"/>
              <a:t>.</a:t>
            </a:r>
            <a:br>
              <a:rPr lang="fr-FR" sz="2800" dirty="0"/>
            </a:br>
            <a:r>
              <a:rPr lang="fr-FR" sz="2800" dirty="0"/>
              <a:t>Le </a:t>
            </a:r>
            <a:r>
              <a:rPr lang="fr-FR" sz="2800" b="1" dirty="0"/>
              <a:t>seuillage</a:t>
            </a:r>
            <a:r>
              <a:rPr lang="fr-FR" sz="2800" dirty="0"/>
              <a:t> est l’une des méthodes les plus simples et les plus efficaces pour réaliser cette segmentation.</a:t>
            </a:r>
          </a:p>
          <a:p>
            <a:r>
              <a:rPr lang="fr-FR" sz="2800" dirty="0"/>
              <a:t>Il repose sur l’idée que l’objet et le fond ont des </a:t>
            </a:r>
            <a:r>
              <a:rPr lang="fr-FR" sz="2800" b="1" dirty="0"/>
              <a:t>niveaux de gris </a:t>
            </a:r>
            <a:r>
              <a:rPr lang="fr-FR" sz="2800" b="1" dirty="0" smtClean="0"/>
              <a:t>différents</a:t>
            </a:r>
            <a:r>
              <a:rPr lang="fr-FR" sz="2800" dirty="0" smtClean="0"/>
              <a:t>.</a:t>
            </a:r>
          </a:p>
          <a:p>
            <a:r>
              <a:rPr lang="fr-FR" sz="2800" dirty="0" smtClean="0"/>
              <a:t>En </a:t>
            </a:r>
            <a:r>
              <a:rPr lang="fr-FR" sz="2800" dirty="0"/>
              <a:t>choisissant un </a:t>
            </a:r>
            <a:r>
              <a:rPr lang="fr-FR" sz="2800" b="1" dirty="0"/>
              <a:t>seuil T</a:t>
            </a:r>
            <a:r>
              <a:rPr lang="fr-FR" sz="2800" dirty="0"/>
              <a:t>, on divise les pixels en deux groupes :</a:t>
            </a:r>
          </a:p>
          <a:p>
            <a:pPr lvl="1"/>
            <a:r>
              <a:rPr lang="fr-FR" sz="2400" dirty="0"/>
              <a:t>ceux dont l’intensité ≤ T (fond → noir),</a:t>
            </a:r>
          </a:p>
          <a:p>
            <a:pPr lvl="1"/>
            <a:r>
              <a:rPr lang="fr-FR" sz="2400" dirty="0"/>
              <a:t>ceux dont l’intensité &gt; T (objet → blanc).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3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63016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95536"/>
          </a:xfrm>
        </p:spPr>
        <p:txBody>
          <a:bodyPr/>
          <a:lstStyle/>
          <a:p>
            <a:r>
              <a:rPr lang="fr-FR" sz="3600" dirty="0" smtClean="0"/>
              <a:t>Définition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28800"/>
            <a:ext cx="10972800" cy="4968552"/>
          </a:xfrm>
        </p:spPr>
        <p:txBody>
          <a:bodyPr/>
          <a:lstStyle/>
          <a:p>
            <a:r>
              <a:rPr lang="fr-FR" sz="2400" dirty="0"/>
              <a:t>Le </a:t>
            </a:r>
            <a:r>
              <a:rPr lang="fr-FR" sz="2400" b="1" dirty="0"/>
              <a:t>seuillage</a:t>
            </a:r>
            <a:r>
              <a:rPr lang="fr-FR" sz="2400" dirty="0"/>
              <a:t> est une technique de </a:t>
            </a:r>
            <a:r>
              <a:rPr lang="fr-FR" sz="2400" b="1" dirty="0"/>
              <a:t>segmentation</a:t>
            </a:r>
            <a:r>
              <a:rPr lang="fr-FR" sz="2400" dirty="0"/>
              <a:t> qui consiste à transformer une image en niveaux de gris en une image </a:t>
            </a:r>
            <a:r>
              <a:rPr lang="fr-FR" sz="2400" b="1" dirty="0"/>
              <a:t>binaire</a:t>
            </a:r>
            <a:r>
              <a:rPr lang="fr-FR" sz="2400" dirty="0"/>
              <a:t> (noir/blanc) ou multi-classes, en fonction d’un ou plusieurs </a:t>
            </a:r>
            <a:r>
              <a:rPr lang="fr-FR" sz="2400" b="1" dirty="0" smtClean="0"/>
              <a:t>seuils</a:t>
            </a:r>
            <a:r>
              <a:rPr lang="fr-FR" sz="2400" dirty="0" smtClean="0"/>
              <a:t>, dans l’objectif de séparer </a:t>
            </a:r>
            <a:r>
              <a:rPr lang="fr-FR" sz="2400" b="1" dirty="0"/>
              <a:t>l’avant-plan</a:t>
            </a:r>
            <a:r>
              <a:rPr lang="fr-FR" sz="2400" dirty="0"/>
              <a:t> (objet d’intérêt) de </a:t>
            </a:r>
            <a:r>
              <a:rPr lang="fr-FR" sz="2400" b="1" dirty="0"/>
              <a:t>l’arrière-plan</a:t>
            </a:r>
            <a:r>
              <a:rPr lang="fr-FR" sz="2400" dirty="0" smtClean="0"/>
              <a:t>.</a:t>
            </a:r>
          </a:p>
          <a:p>
            <a:r>
              <a:rPr lang="fr-FR" sz="2400" dirty="0"/>
              <a:t>Soit une image en niveaux de gris </a:t>
            </a:r>
            <a:r>
              <a:rPr lang="fr-FR" sz="2400" dirty="0" smtClean="0"/>
              <a:t>f(</a:t>
            </a:r>
            <a:r>
              <a:rPr lang="fr-FR" sz="2400" dirty="0" err="1" smtClean="0"/>
              <a:t>x,y</a:t>
            </a:r>
            <a:r>
              <a:rPr lang="fr-FR" sz="2400" dirty="0" smtClean="0"/>
              <a:t>).</a:t>
            </a:r>
            <a:endParaRPr lang="fr-FR" sz="2400" dirty="0"/>
          </a:p>
          <a:p>
            <a:r>
              <a:rPr lang="fr-FR" sz="2400" dirty="0"/>
              <a:t>Le seuillage binaire s’écrit </a:t>
            </a:r>
            <a:r>
              <a:rPr lang="fr-FR" sz="2400" dirty="0" smtClean="0"/>
              <a:t>:</a:t>
            </a:r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 smtClean="0"/>
          </a:p>
          <a:p>
            <a:pPr lvl="1"/>
            <a:r>
              <a:rPr lang="fr-FR" sz="2000" dirty="0"/>
              <a:t>f(</a:t>
            </a:r>
            <a:r>
              <a:rPr lang="fr-FR" sz="2000" dirty="0" err="1"/>
              <a:t>x,y</a:t>
            </a:r>
            <a:r>
              <a:rPr lang="fr-FR" sz="2000" dirty="0"/>
              <a:t>) = intensité du pixel en (</a:t>
            </a:r>
            <a:r>
              <a:rPr lang="fr-FR" sz="2000" dirty="0" err="1"/>
              <a:t>x,y</a:t>
            </a:r>
            <a:r>
              <a:rPr lang="fr-FR" sz="2000" dirty="0"/>
              <a:t>).</a:t>
            </a:r>
          </a:p>
          <a:p>
            <a:pPr lvl="1"/>
            <a:r>
              <a:rPr lang="fr-FR" sz="2000" dirty="0"/>
              <a:t>T = seuil choisi.</a:t>
            </a:r>
          </a:p>
          <a:p>
            <a:pPr lvl="1"/>
            <a:r>
              <a:rPr lang="fr-FR" sz="2000" dirty="0"/>
              <a:t>g(</a:t>
            </a:r>
            <a:r>
              <a:rPr lang="fr-FR" sz="2000" dirty="0" err="1"/>
              <a:t>x,y</a:t>
            </a:r>
            <a:r>
              <a:rPr lang="fr-FR" sz="2000" dirty="0"/>
              <a:t>) = image </a:t>
            </a:r>
            <a:r>
              <a:rPr lang="fr-FR" sz="2000" dirty="0" err="1"/>
              <a:t>seuillée</a:t>
            </a:r>
            <a:r>
              <a:rPr lang="fr-FR" sz="2000" dirty="0"/>
              <a:t> (binaire).</a:t>
            </a:r>
          </a:p>
          <a:p>
            <a:endParaRPr lang="fr-FR" sz="2400" dirty="0"/>
          </a:p>
          <a:p>
            <a:endParaRPr lang="fr-FR" sz="24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4</a:t>
            </a:fld>
            <a:endParaRPr lang="fr-FR" alt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813" y="4149080"/>
            <a:ext cx="3210373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994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95536"/>
          </a:xfrm>
        </p:spPr>
        <p:txBody>
          <a:bodyPr/>
          <a:lstStyle/>
          <a:p>
            <a:r>
              <a:rPr lang="fr-FR" sz="3600" dirty="0" smtClean="0"/>
              <a:t>Utilité du seuillage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28800"/>
            <a:ext cx="10972800" cy="4619600"/>
          </a:xfrm>
        </p:spPr>
        <p:txBody>
          <a:bodyPr/>
          <a:lstStyle/>
          <a:p>
            <a:r>
              <a:rPr lang="fr-FR" sz="2800" dirty="0"/>
              <a:t>Extraire des </a:t>
            </a:r>
            <a:r>
              <a:rPr lang="fr-FR" sz="2800" b="1" dirty="0"/>
              <a:t>objets d’intérêt</a:t>
            </a:r>
            <a:r>
              <a:rPr lang="fr-FR" sz="2800" dirty="0"/>
              <a:t> (lettres, pièces, cellules…).</a:t>
            </a:r>
          </a:p>
          <a:p>
            <a:r>
              <a:rPr lang="fr-FR" sz="2800" dirty="0"/>
              <a:t>Réduire la complexité d’une image (de 256 niveaux → 2 niveaux).</a:t>
            </a:r>
          </a:p>
          <a:p>
            <a:r>
              <a:rPr lang="fr-FR" sz="2800" dirty="0"/>
              <a:t>Préparer une image pour :</a:t>
            </a:r>
          </a:p>
          <a:p>
            <a:pPr lvl="1"/>
            <a:r>
              <a:rPr lang="fr-FR" sz="2400" dirty="0"/>
              <a:t>la </a:t>
            </a:r>
            <a:r>
              <a:rPr lang="fr-FR" sz="2400" b="1" dirty="0"/>
              <a:t>détection de contours</a:t>
            </a:r>
            <a:r>
              <a:rPr lang="fr-FR" sz="2400" dirty="0"/>
              <a:t>,</a:t>
            </a:r>
          </a:p>
          <a:p>
            <a:pPr lvl="1"/>
            <a:r>
              <a:rPr lang="fr-FR" sz="2400" dirty="0"/>
              <a:t>la </a:t>
            </a:r>
            <a:r>
              <a:rPr lang="fr-FR" sz="2400" b="1" dirty="0"/>
              <a:t>reconnaissance de formes</a:t>
            </a:r>
            <a:r>
              <a:rPr lang="fr-FR" sz="2400" dirty="0"/>
              <a:t>,</a:t>
            </a:r>
          </a:p>
          <a:p>
            <a:pPr lvl="1"/>
            <a:r>
              <a:rPr lang="fr-FR" sz="2400" dirty="0"/>
              <a:t>l’</a:t>
            </a:r>
            <a:r>
              <a:rPr lang="fr-FR" sz="2400" b="1" dirty="0"/>
              <a:t>analyse de régions</a:t>
            </a:r>
            <a:r>
              <a:rPr lang="fr-FR" sz="2400" dirty="0"/>
              <a:t>.</a:t>
            </a:r>
          </a:p>
          <a:p>
            <a:r>
              <a:rPr lang="fr-FR" sz="2800" dirty="0">
                <a:solidFill>
                  <a:srgbClr val="FF0000"/>
                </a:solidFill>
              </a:rPr>
              <a:t>Exemple</a:t>
            </a:r>
            <a:r>
              <a:rPr lang="fr-FR" sz="2800" dirty="0"/>
              <a:t> : Prenons une radiographie :</a:t>
            </a:r>
          </a:p>
          <a:p>
            <a:pPr lvl="1"/>
            <a:r>
              <a:rPr lang="fr-FR" sz="2400" dirty="0"/>
              <a:t>Fond sombre (valeurs basses → pic gauche dans l’histogramme).</a:t>
            </a:r>
          </a:p>
          <a:p>
            <a:pPr lvl="1"/>
            <a:r>
              <a:rPr lang="fr-FR" sz="2400" dirty="0"/>
              <a:t>Os clairs (valeurs hautes → pic droit).</a:t>
            </a:r>
          </a:p>
          <a:p>
            <a:pPr lvl="1"/>
            <a:r>
              <a:rPr lang="fr-FR" sz="2400" dirty="0"/>
              <a:t>Le seuil est choisi </a:t>
            </a:r>
            <a:r>
              <a:rPr lang="fr-FR" sz="2400" b="1" dirty="0"/>
              <a:t>entre les deux pics</a:t>
            </a:r>
            <a:r>
              <a:rPr lang="fr-FR" sz="2400" dirty="0"/>
              <a:t> → segmentation des os.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5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2131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451520"/>
          </a:xfrm>
        </p:spPr>
        <p:txBody>
          <a:bodyPr/>
          <a:lstStyle/>
          <a:p>
            <a:r>
              <a:rPr lang="fr-FR" sz="3600" dirty="0" smtClean="0"/>
              <a:t>Types de seuillage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988840"/>
            <a:ext cx="10972800" cy="4259560"/>
          </a:xfrm>
        </p:spPr>
        <p:txBody>
          <a:bodyPr/>
          <a:lstStyle/>
          <a:p>
            <a:pPr marL="514350" indent="-514350">
              <a:buSzPct val="100000"/>
              <a:buFont typeface="+mj-lt"/>
              <a:buAutoNum type="arabicPeriod"/>
            </a:pPr>
            <a:r>
              <a:rPr lang="fr-FR" dirty="0"/>
              <a:t>Seuillage global (fixe</a:t>
            </a:r>
            <a:r>
              <a:rPr lang="fr-FR" dirty="0" smtClean="0"/>
              <a:t>)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fr-FR" dirty="0"/>
              <a:t>Seuillage adaptatif (local</a:t>
            </a:r>
            <a:r>
              <a:rPr lang="fr-FR" dirty="0" smtClean="0"/>
              <a:t>)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fr-FR" dirty="0"/>
              <a:t>Seuillage </a:t>
            </a:r>
            <a:r>
              <a:rPr lang="fr-FR" dirty="0" smtClean="0"/>
              <a:t>multi-niveaux</a:t>
            </a:r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fr-FR" dirty="0" smtClean="0"/>
              <a:t>Seuillage </a:t>
            </a:r>
            <a:r>
              <a:rPr lang="fr-FR" dirty="0"/>
              <a:t>automatique (méthodes statistiques)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6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32330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76672"/>
            <a:ext cx="10972800" cy="595536"/>
          </a:xfrm>
        </p:spPr>
        <p:txBody>
          <a:bodyPr/>
          <a:lstStyle/>
          <a:p>
            <a:pPr marL="514350" indent="-514350"/>
            <a:r>
              <a:rPr lang="fr-FR" sz="3600" dirty="0"/>
              <a:t>Seuillage global (fixe)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28800"/>
            <a:ext cx="10972800" cy="4619600"/>
          </a:xfrm>
        </p:spPr>
        <p:txBody>
          <a:bodyPr/>
          <a:lstStyle/>
          <a:p>
            <a:r>
              <a:rPr lang="fr-FR" sz="2400" b="1" dirty="0" smtClean="0"/>
              <a:t>Définition : </a:t>
            </a:r>
            <a:r>
              <a:rPr lang="fr-FR" sz="2400" dirty="0" smtClean="0"/>
              <a:t>Le </a:t>
            </a:r>
            <a:r>
              <a:rPr lang="fr-FR" sz="2400" dirty="0"/>
              <a:t>seuillage global (ou fixe) consiste à appliquer </a:t>
            </a:r>
            <a:r>
              <a:rPr lang="fr-FR" sz="2400" b="1" dirty="0"/>
              <a:t>un seul seuil T</a:t>
            </a:r>
            <a:r>
              <a:rPr lang="fr-FR" sz="2400" dirty="0"/>
              <a:t> à toute l’image, sans tenir compte de la position des pixels ou des variations d’éclairage.</a:t>
            </a:r>
          </a:p>
          <a:p>
            <a:r>
              <a:rPr lang="fr-FR" sz="2400" dirty="0"/>
              <a:t>Formule </a:t>
            </a:r>
            <a:r>
              <a:rPr lang="fr-FR" sz="2400" dirty="0" smtClean="0"/>
              <a:t>:</a:t>
            </a:r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/>
          </a:p>
          <a:p>
            <a:pPr lvl="1"/>
            <a:r>
              <a:rPr lang="fr-FR" sz="2000" dirty="0"/>
              <a:t>f(</a:t>
            </a:r>
            <a:r>
              <a:rPr lang="fr-FR" sz="2000" dirty="0" err="1"/>
              <a:t>x,y</a:t>
            </a:r>
            <a:r>
              <a:rPr lang="fr-FR" sz="2000" dirty="0"/>
              <a:t>) = intensité du pixel en (</a:t>
            </a:r>
            <a:r>
              <a:rPr lang="fr-FR" sz="2000" dirty="0" err="1"/>
              <a:t>x,y</a:t>
            </a:r>
            <a:r>
              <a:rPr lang="fr-FR" sz="2000" dirty="0"/>
              <a:t>).</a:t>
            </a:r>
          </a:p>
          <a:p>
            <a:pPr lvl="1"/>
            <a:r>
              <a:rPr lang="fr-FR" sz="2000" dirty="0"/>
              <a:t>T = seuil choisi manuellement ou calculé.</a:t>
            </a:r>
          </a:p>
          <a:p>
            <a:pPr lvl="1"/>
            <a:r>
              <a:rPr lang="fr-FR" sz="2000" dirty="0"/>
              <a:t>g(</a:t>
            </a:r>
            <a:r>
              <a:rPr lang="fr-FR" sz="2000" dirty="0" err="1"/>
              <a:t>x,y</a:t>
            </a:r>
            <a:r>
              <a:rPr lang="fr-FR" sz="2000" dirty="0"/>
              <a:t>) = image binaire (noir et blanc).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7</a:t>
            </a:fld>
            <a:endParaRPr lang="fr-FR" alt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696" y="3068960"/>
            <a:ext cx="4265288" cy="105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824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72816"/>
            <a:ext cx="6134472" cy="2160240"/>
          </a:xfrm>
        </p:spPr>
        <p:txBody>
          <a:bodyPr/>
          <a:lstStyle/>
          <a:p>
            <a:r>
              <a:rPr lang="fr-FR" sz="2000" b="1" dirty="0">
                <a:solidFill>
                  <a:srgbClr val="0000FF"/>
                </a:solidFill>
              </a:rPr>
              <a:t>Exemple intuitif</a:t>
            </a:r>
          </a:p>
          <a:p>
            <a:pPr lvl="1"/>
            <a:r>
              <a:rPr lang="fr-FR" sz="1800" dirty="0" smtClean="0"/>
              <a:t>Imaginons </a:t>
            </a:r>
            <a:r>
              <a:rPr lang="fr-FR" sz="1800" dirty="0"/>
              <a:t>une pièce sombre sur un fond clair :</a:t>
            </a:r>
          </a:p>
          <a:p>
            <a:pPr lvl="1"/>
            <a:r>
              <a:rPr lang="fr-FR" sz="1800" dirty="0" smtClean="0"/>
              <a:t>Si </a:t>
            </a:r>
            <a:r>
              <a:rPr lang="fr-FR" sz="1800" dirty="0"/>
              <a:t>on fixe T = 120 (sur une échelle [0-255]) :</a:t>
            </a:r>
          </a:p>
          <a:p>
            <a:pPr lvl="1"/>
            <a:r>
              <a:rPr lang="fr-FR" sz="1800" dirty="0" smtClean="0"/>
              <a:t>Les </a:t>
            </a:r>
            <a:r>
              <a:rPr lang="fr-FR" sz="1800" dirty="0"/>
              <a:t>pixels &gt; 120 (fond clair) deviennent blancs.</a:t>
            </a:r>
          </a:p>
          <a:p>
            <a:pPr lvl="1"/>
            <a:r>
              <a:rPr lang="fr-FR" sz="1800" dirty="0" smtClean="0"/>
              <a:t>Les </a:t>
            </a:r>
            <a:r>
              <a:rPr lang="fr-FR" sz="1800" dirty="0"/>
              <a:t>pixels ≤ 120 (pièce sombre) deviennent noirs.</a:t>
            </a:r>
          </a:p>
          <a:p>
            <a:pPr marL="0" indent="0">
              <a:buNone/>
            </a:pPr>
            <a:r>
              <a:rPr lang="fr-FR" sz="2000" dirty="0" smtClean="0">
                <a:sym typeface="Wingdings" panose="05000000000000000000" pitchFamily="2" charset="2"/>
              </a:rPr>
              <a:t>   </a:t>
            </a:r>
            <a:r>
              <a:rPr lang="fr-FR" sz="20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</a:t>
            </a:r>
            <a:r>
              <a:rPr lang="fr-FR" sz="2000" dirty="0" smtClean="0">
                <a:sym typeface="Wingdings" panose="05000000000000000000" pitchFamily="2" charset="2"/>
              </a:rPr>
              <a:t> </a:t>
            </a:r>
            <a:r>
              <a:rPr lang="fr-FR" sz="2000" dirty="0" smtClean="0"/>
              <a:t>On </a:t>
            </a:r>
            <a:r>
              <a:rPr lang="fr-FR" sz="2000" dirty="0"/>
              <a:t>a séparé la pièce (objet) du fond.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8</a:t>
            </a:fld>
            <a:endParaRPr lang="fr-FR" altLang="fr-FR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609600" y="476672"/>
            <a:ext cx="10972800" cy="595536"/>
          </a:xfrm>
        </p:spPr>
        <p:txBody>
          <a:bodyPr/>
          <a:lstStyle/>
          <a:p>
            <a:pPr marL="514350" indent="-514350"/>
            <a:r>
              <a:rPr lang="fr-FR" sz="3600" dirty="0"/>
              <a:t>Seuillage global (fixe)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36160" y="1556792"/>
            <a:ext cx="4248472" cy="23762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800" b="1" smtClean="0">
                <a:solidFill>
                  <a:schemeClr val="tx1"/>
                </a:solidFill>
              </a:rPr>
              <a:t>Avantages</a:t>
            </a:r>
          </a:p>
          <a:p>
            <a:endParaRPr lang="fr-FR" sz="1800" b="1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smtClean="0">
                <a:solidFill>
                  <a:schemeClr val="tx1"/>
                </a:solidFill>
              </a:rPr>
              <a:t>Simple et rapide à mettre en œuvre.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smtClean="0">
                <a:solidFill>
                  <a:schemeClr val="tx1"/>
                </a:solidFill>
              </a:rPr>
              <a:t>Suffisant pour des images </a:t>
            </a:r>
            <a:r>
              <a:rPr lang="fr-FR" sz="1800" b="1" smtClean="0">
                <a:solidFill>
                  <a:schemeClr val="tx1"/>
                </a:solidFill>
              </a:rPr>
              <a:t>bien contrastées</a:t>
            </a:r>
            <a:r>
              <a:rPr lang="fr-FR" sz="1800" smtClean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smtClean="0">
                <a:solidFill>
                  <a:schemeClr val="tx1"/>
                </a:solidFill>
              </a:rPr>
              <a:t>Peu coûteux en calcul.</a:t>
            </a:r>
          </a:p>
          <a:p>
            <a:pPr algn="ctr"/>
            <a:endParaRPr lang="fr-FR" sz="18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11624" y="4221088"/>
            <a:ext cx="6480720" cy="23762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800" b="1" dirty="0" smtClean="0">
                <a:solidFill>
                  <a:schemeClr val="tx1"/>
                </a:solidFill>
              </a:rPr>
              <a:t>Limites</a:t>
            </a:r>
          </a:p>
          <a:p>
            <a:endParaRPr lang="fr-FR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</a:rPr>
              <a:t>Dépend fortement du choix du seuil T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</a:rPr>
              <a:t>Si T trop bas → beaucoup de bruit.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</a:rPr>
              <a:t>Si T trop haut → perte d’objet.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</a:rPr>
              <a:t>Sensible aux variations d’éclairage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</a:rPr>
              <a:t>une ombre peut être confondue avec l’objet.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</a:rPr>
              <a:t>Inefficace pour des images complexes (multimodales).</a:t>
            </a:r>
          </a:p>
        </p:txBody>
      </p:sp>
    </p:spTree>
    <p:extLst>
      <p:ext uri="{BB962C8B-B14F-4D97-AF65-F5344CB8AC3E}">
        <p14:creationId xmlns:p14="http://schemas.microsoft.com/office/powerpoint/2010/main" val="205444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9</a:t>
            </a:fld>
            <a:endParaRPr lang="fr-FR" altLang="fr-FR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609600" y="476672"/>
            <a:ext cx="10972800" cy="595536"/>
          </a:xfrm>
        </p:spPr>
        <p:txBody>
          <a:bodyPr/>
          <a:lstStyle/>
          <a:p>
            <a:pPr marL="514350" indent="-514350"/>
            <a:r>
              <a:rPr lang="fr-FR" sz="3600" dirty="0"/>
              <a:t>Seuillage global (fixe)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377" y="3501008"/>
            <a:ext cx="5089222" cy="26642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32377" y="2924944"/>
            <a:ext cx="17972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 err="1"/>
              <a:t>Pseudo-code</a:t>
            </a:r>
            <a:endParaRPr lang="fr-FR" sz="2000" b="1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2355196"/>
            <a:ext cx="6157417" cy="272998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9600" y="1705735"/>
            <a:ext cx="2518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800" b="1" dirty="0"/>
              <a:t>Python avec </a:t>
            </a:r>
            <a:r>
              <a:rPr lang="fr-FR" sz="1800" b="1" dirty="0" err="1"/>
              <a:t>OpenCV</a:t>
            </a:r>
            <a:endParaRPr lang="fr-FR" sz="1800" b="1" dirty="0"/>
          </a:p>
        </p:txBody>
      </p:sp>
    </p:spTree>
    <p:extLst>
      <p:ext uri="{BB962C8B-B14F-4D97-AF65-F5344CB8AC3E}">
        <p14:creationId xmlns:p14="http://schemas.microsoft.com/office/powerpoint/2010/main" val="3622598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556792"/>
            <a:ext cx="10972800" cy="648072"/>
          </a:xfrm>
        </p:spPr>
        <p:txBody>
          <a:bodyPr/>
          <a:lstStyle/>
          <a:p>
            <a:r>
              <a:rPr lang="fr-FR" sz="2800" dirty="0" smtClean="0"/>
              <a:t>Exemple</a:t>
            </a:r>
            <a:endParaRPr lang="fr-FR" sz="28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10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476672"/>
            <a:ext cx="10972800" cy="595536"/>
          </a:xfrm>
        </p:spPr>
        <p:txBody>
          <a:bodyPr/>
          <a:lstStyle/>
          <a:p>
            <a:pPr marL="514350" indent="-514350"/>
            <a:r>
              <a:rPr lang="fr-FR" sz="3600" dirty="0"/>
              <a:t>Seuillage global (fixe)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343" y="3868083"/>
            <a:ext cx="4896544" cy="254004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736" y="1891442"/>
            <a:ext cx="7116168" cy="179095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191" y="4017042"/>
            <a:ext cx="3728905" cy="237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22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00808"/>
            <a:ext cx="10972800" cy="4166592"/>
          </a:xfrm>
        </p:spPr>
        <p:txBody>
          <a:bodyPr/>
          <a:lstStyle/>
          <a:p>
            <a:r>
              <a:rPr lang="fr-FR" sz="2800" dirty="0" smtClean="0">
                <a:solidFill>
                  <a:srgbClr val="FF0000"/>
                </a:solidFill>
              </a:rPr>
              <a:t>Limite</a:t>
            </a:r>
            <a:r>
              <a:rPr lang="fr-FR" sz="2800" dirty="0" smtClean="0"/>
              <a:t> : Si </a:t>
            </a:r>
            <a:r>
              <a:rPr lang="fr-FR" sz="2800" dirty="0"/>
              <a:t>l’éclairage varie ou si l’objet et le fond ont des intensités </a:t>
            </a:r>
            <a:r>
              <a:rPr lang="fr-FR" sz="2800" dirty="0" smtClean="0"/>
              <a:t>proches alors le seuillage global échoue.</a:t>
            </a:r>
            <a:endParaRPr lang="fr-FR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11</a:t>
            </a:fld>
            <a:endParaRPr lang="fr-FR" altLang="fr-FR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476672"/>
            <a:ext cx="10972800" cy="595536"/>
          </a:xfrm>
        </p:spPr>
        <p:txBody>
          <a:bodyPr/>
          <a:lstStyle/>
          <a:p>
            <a:pPr marL="514350" indent="-514350"/>
            <a:r>
              <a:rPr lang="fr-FR" sz="3600" dirty="0"/>
              <a:t>Seuillage global (fixe)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2799869"/>
            <a:ext cx="6020640" cy="3448531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909" y="2971369"/>
            <a:ext cx="4591691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54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3528"/>
          </a:xfrm>
        </p:spPr>
        <p:txBody>
          <a:bodyPr/>
          <a:lstStyle/>
          <a:p>
            <a:r>
              <a:rPr lang="fr-FR" sz="3600" dirty="0"/>
              <a:t>Seuillage adaptatif (local)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556792"/>
            <a:ext cx="10972800" cy="4310608"/>
          </a:xfrm>
        </p:spPr>
        <p:txBody>
          <a:bodyPr/>
          <a:lstStyle/>
          <a:p>
            <a:r>
              <a:rPr lang="fr-FR" sz="2000" b="1" dirty="0" smtClean="0">
                <a:solidFill>
                  <a:srgbClr val="FF0000"/>
                </a:solidFill>
              </a:rPr>
              <a:t>Définition</a:t>
            </a:r>
            <a:r>
              <a:rPr lang="fr-FR" sz="2000" b="1" dirty="0" smtClean="0"/>
              <a:t> : </a:t>
            </a:r>
            <a:r>
              <a:rPr lang="fr-FR" sz="2000" dirty="0" smtClean="0"/>
              <a:t>Le </a:t>
            </a:r>
            <a:r>
              <a:rPr lang="fr-FR" sz="2000" b="1" dirty="0"/>
              <a:t>seuillage adaptatif</a:t>
            </a:r>
            <a:r>
              <a:rPr lang="fr-FR" sz="2000" dirty="0"/>
              <a:t> consiste à calculer un </a:t>
            </a:r>
            <a:r>
              <a:rPr lang="fr-FR" sz="2000" b="1" dirty="0"/>
              <a:t>seuil différent pour chaque région</a:t>
            </a:r>
            <a:r>
              <a:rPr lang="fr-FR" sz="2000" dirty="0"/>
              <a:t> de l’image au lieu d’un seuil global unique.</a:t>
            </a:r>
            <a:br>
              <a:rPr lang="fr-FR" sz="2000" dirty="0"/>
            </a:br>
            <a:r>
              <a:rPr lang="fr-FR" sz="2000" dirty="0" smtClean="0"/>
              <a:t>L’idée </a:t>
            </a:r>
            <a:r>
              <a:rPr lang="fr-FR" sz="2000" dirty="0"/>
              <a:t>: si l’éclairage ou le contraste varient dans l’image, un seul seuil ne suffit pas. Le seuillage adaptatif s’adapte localement</a:t>
            </a:r>
            <a:r>
              <a:rPr lang="fr-FR" sz="2000" dirty="0" smtClean="0"/>
              <a:t>.</a:t>
            </a:r>
          </a:p>
          <a:p>
            <a:r>
              <a:rPr lang="fr-FR" sz="2000" b="1" dirty="0" smtClean="0">
                <a:solidFill>
                  <a:srgbClr val="FF0000"/>
                </a:solidFill>
              </a:rPr>
              <a:t>Principe : </a:t>
            </a:r>
            <a:endParaRPr lang="fr-FR" sz="2000" b="1" dirty="0">
              <a:solidFill>
                <a:srgbClr val="FF0000"/>
              </a:solidFill>
            </a:endParaRPr>
          </a:p>
          <a:p>
            <a:pPr lvl="1"/>
            <a:r>
              <a:rPr lang="fr-FR" sz="1800" dirty="0"/>
              <a:t>L’image est découpée en </a:t>
            </a:r>
            <a:r>
              <a:rPr lang="fr-FR" sz="1800" b="1" dirty="0"/>
              <a:t>petites fenêtres</a:t>
            </a:r>
            <a:r>
              <a:rPr lang="fr-FR" sz="1800" dirty="0"/>
              <a:t> (blocs locaux).</a:t>
            </a:r>
          </a:p>
          <a:p>
            <a:pPr lvl="1"/>
            <a:r>
              <a:rPr lang="fr-FR" sz="1800" dirty="0"/>
              <a:t>Pour chaque pixel, on calcule un </a:t>
            </a:r>
            <a:r>
              <a:rPr lang="fr-FR" sz="1800" b="1" dirty="0"/>
              <a:t>seuil local</a:t>
            </a:r>
            <a:r>
              <a:rPr lang="fr-FR" sz="1800" dirty="0"/>
              <a:t> basé sur l’intensité des voisins.</a:t>
            </a:r>
          </a:p>
          <a:p>
            <a:pPr lvl="1"/>
            <a:r>
              <a:rPr lang="fr-FR" sz="1800" dirty="0"/>
              <a:t>On compare la valeur du pixel à ce seuil → résultat binaire (0 ou 255).</a:t>
            </a:r>
          </a:p>
          <a:p>
            <a:r>
              <a:rPr lang="fr-FR" sz="2000" dirty="0"/>
              <a:t>Deux méthodes classiques (implémentées dans </a:t>
            </a:r>
            <a:r>
              <a:rPr lang="fr-FR" sz="2000" dirty="0" err="1"/>
              <a:t>OpenCV</a:t>
            </a:r>
            <a:r>
              <a:rPr lang="fr-FR" sz="2000" dirty="0"/>
              <a:t>) :</a:t>
            </a:r>
          </a:p>
          <a:p>
            <a:pPr lvl="1"/>
            <a:r>
              <a:rPr lang="fr-FR" sz="1800" b="1" dirty="0"/>
              <a:t>Moyenne locale</a:t>
            </a:r>
            <a:r>
              <a:rPr lang="fr-FR" sz="1800" dirty="0"/>
              <a:t> </a:t>
            </a:r>
            <a:r>
              <a:rPr lang="fr-FR" sz="1800" dirty="0" smtClean="0"/>
              <a:t>:</a:t>
            </a:r>
          </a:p>
          <a:p>
            <a:pPr marL="457200" lvl="1" indent="0" algn="ctr">
              <a:buNone/>
            </a:pPr>
            <a:r>
              <a:rPr lang="fr-FR" sz="1800" dirty="0" smtClean="0"/>
              <a:t>T(</a:t>
            </a:r>
            <a:r>
              <a:rPr lang="fr-FR" sz="1800" dirty="0" err="1" smtClean="0"/>
              <a:t>x,y</a:t>
            </a:r>
            <a:r>
              <a:rPr lang="fr-FR" sz="1800" dirty="0" smtClean="0"/>
              <a:t>)=moyenne des intensités des voisins dans une fenêtre centrée en (</a:t>
            </a:r>
            <a:r>
              <a:rPr lang="fr-FR" sz="1800" dirty="0" err="1" smtClean="0"/>
              <a:t>x,y</a:t>
            </a:r>
            <a:r>
              <a:rPr lang="fr-FR" sz="1800" dirty="0" smtClean="0"/>
              <a:t>)−C</a:t>
            </a:r>
          </a:p>
          <a:p>
            <a:pPr lvl="1"/>
            <a:r>
              <a:rPr lang="fr-FR" sz="1800" b="1" dirty="0" smtClean="0"/>
              <a:t>Gaussienne </a:t>
            </a:r>
            <a:r>
              <a:rPr lang="fr-FR" sz="1800" b="1" dirty="0"/>
              <a:t>pondérée</a:t>
            </a:r>
            <a:r>
              <a:rPr lang="fr-FR" sz="1800" dirty="0"/>
              <a:t> :</a:t>
            </a:r>
          </a:p>
          <a:p>
            <a:pPr marL="457200" lvl="1" indent="0">
              <a:buNone/>
            </a:pPr>
            <a:r>
              <a:rPr lang="fr-FR" sz="1800" dirty="0" smtClean="0"/>
              <a:t>		T(</a:t>
            </a:r>
            <a:r>
              <a:rPr lang="fr-FR" sz="1800" dirty="0" err="1" smtClean="0"/>
              <a:t>x,y</a:t>
            </a:r>
            <a:r>
              <a:rPr lang="fr-FR" sz="1800" dirty="0"/>
              <a:t>)=moyenne </a:t>
            </a:r>
            <a:r>
              <a:rPr lang="fr-FR" sz="1800" dirty="0" smtClean="0"/>
              <a:t>pondérée</a:t>
            </a:r>
            <a:r>
              <a:rPr lang="fr-FR" sz="1800" dirty="0"/>
              <a:t> gaussienne des voisins−</a:t>
            </a:r>
            <a:r>
              <a:rPr lang="fr-FR" sz="1800" dirty="0" smtClean="0"/>
              <a:t>C</a:t>
            </a:r>
            <a:endParaRPr lang="fr-FR" sz="18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12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574047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4380522"/>
            <a:ext cx="10972800" cy="2288838"/>
          </a:xfrm>
        </p:spPr>
        <p:txBody>
          <a:bodyPr/>
          <a:lstStyle/>
          <a:p>
            <a:r>
              <a:rPr lang="fr-FR" sz="2000" b="1" dirty="0"/>
              <a:t>Exemple </a:t>
            </a:r>
            <a:r>
              <a:rPr lang="fr-FR" sz="2000" b="1" dirty="0" smtClean="0"/>
              <a:t>d’utilisation : </a:t>
            </a:r>
            <a:r>
              <a:rPr lang="fr-FR" sz="2000" dirty="0" smtClean="0"/>
              <a:t>Imagine </a:t>
            </a:r>
            <a:r>
              <a:rPr lang="fr-FR" sz="2000" dirty="0"/>
              <a:t>un document scanné mal éclairé :</a:t>
            </a:r>
          </a:p>
          <a:p>
            <a:pPr marL="1162050" indent="-285750"/>
            <a:r>
              <a:rPr lang="fr-FR" sz="2000" dirty="0"/>
              <a:t>En haut de la feuille → éclairage fort, le texte est bien noir.</a:t>
            </a:r>
          </a:p>
          <a:p>
            <a:pPr marL="1162050" indent="-285750"/>
            <a:r>
              <a:rPr lang="fr-FR" sz="2000" dirty="0"/>
              <a:t>En bas de la feuille → zone sombre, le texte paraît gris</a:t>
            </a:r>
            <a:r>
              <a:rPr lang="fr-FR" sz="2000" dirty="0" smtClean="0"/>
              <a:t>.</a:t>
            </a:r>
          </a:p>
          <a:p>
            <a:pPr marL="1162050" lvl="1">
              <a:buFont typeface="Wingdings" panose="05000000000000000000" pitchFamily="2" charset="2"/>
              <a:buChar char="Ø"/>
            </a:pPr>
            <a:r>
              <a:rPr lang="fr-FR" sz="2000" dirty="0" smtClean="0"/>
              <a:t>Un </a:t>
            </a:r>
            <a:r>
              <a:rPr lang="fr-FR" sz="2000" dirty="0"/>
              <a:t>seuillage global échoue (le seuil marche en haut mais pas en bas</a:t>
            </a:r>
            <a:r>
              <a:rPr lang="fr-FR" sz="2000" dirty="0" smtClean="0"/>
              <a:t>).</a:t>
            </a:r>
          </a:p>
          <a:p>
            <a:pPr marL="1162050" lvl="1">
              <a:buFont typeface="Wingdings" panose="05000000000000000000" pitchFamily="2" charset="2"/>
              <a:buChar char="Ø"/>
            </a:pPr>
            <a:r>
              <a:rPr lang="fr-FR" sz="2000" dirty="0" smtClean="0"/>
              <a:t>Un </a:t>
            </a:r>
            <a:r>
              <a:rPr lang="fr-FR" sz="2000" dirty="0"/>
              <a:t>seuillage adaptatif réussit : chaque région trouve son seuil optimal → tout le texte est </a:t>
            </a:r>
            <a:r>
              <a:rPr lang="fr-FR" sz="2000" dirty="0" err="1"/>
              <a:t>binarisé</a:t>
            </a:r>
            <a:r>
              <a:rPr lang="fr-FR" sz="2000" dirty="0"/>
              <a:t> correctement</a:t>
            </a:r>
            <a:r>
              <a:rPr lang="fr-FR" sz="1600" dirty="0"/>
              <a:t>.</a:t>
            </a:r>
          </a:p>
          <a:p>
            <a:endParaRPr lang="fr-FR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13</a:t>
            </a:fld>
            <a:endParaRPr lang="fr-FR" altLang="fr-FR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3528"/>
          </a:xfrm>
        </p:spPr>
        <p:txBody>
          <a:bodyPr/>
          <a:lstStyle/>
          <a:p>
            <a:r>
              <a:rPr lang="fr-FR" sz="3600" dirty="0"/>
              <a:t>Seuillage adaptatif (local)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60" y="1531858"/>
            <a:ext cx="6582614" cy="1321078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848" y="2996952"/>
            <a:ext cx="7044103" cy="127771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80602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556792"/>
            <a:ext cx="10972800" cy="648072"/>
          </a:xfrm>
        </p:spPr>
        <p:txBody>
          <a:bodyPr/>
          <a:lstStyle/>
          <a:p>
            <a:r>
              <a:rPr lang="fr-FR" sz="2800" dirty="0" smtClean="0"/>
              <a:t>Exemple</a:t>
            </a:r>
            <a:endParaRPr lang="fr-FR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14</a:t>
            </a:fld>
            <a:endParaRPr lang="fr-FR" altLang="fr-FR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3528"/>
          </a:xfrm>
        </p:spPr>
        <p:txBody>
          <a:bodyPr/>
          <a:lstStyle/>
          <a:p>
            <a:r>
              <a:rPr lang="fr-FR" sz="3600" dirty="0"/>
              <a:t>Seuillage adaptatif (local)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208" y="1628800"/>
            <a:ext cx="6377160" cy="216024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2" y="4077072"/>
            <a:ext cx="7859096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38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00808"/>
            <a:ext cx="10972800" cy="1440160"/>
          </a:xfrm>
        </p:spPr>
        <p:txBody>
          <a:bodyPr/>
          <a:lstStyle/>
          <a:p>
            <a:r>
              <a:rPr lang="fr-FR" sz="2400" dirty="0">
                <a:solidFill>
                  <a:srgbClr val="FF0000"/>
                </a:solidFill>
              </a:rPr>
              <a:t>Limite</a:t>
            </a:r>
            <a:r>
              <a:rPr lang="fr-FR" sz="2400" dirty="0"/>
              <a:t> : si l’image contient plusieurs objets avec des intensités très différentes, un seul type de calcul local (moyenne ou Gaussienne) peut ne pas séparer correctement tous les objets.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15</a:t>
            </a:fld>
            <a:endParaRPr lang="fr-FR" altLang="fr-FR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3528"/>
          </a:xfrm>
        </p:spPr>
        <p:txBody>
          <a:bodyPr/>
          <a:lstStyle/>
          <a:p>
            <a:r>
              <a:rPr lang="fr-FR" sz="3600" dirty="0"/>
              <a:t>Seuillage adaptatif (local)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725" y="3429000"/>
            <a:ext cx="8240275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16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76672"/>
            <a:ext cx="10972800" cy="595536"/>
          </a:xfrm>
        </p:spPr>
        <p:txBody>
          <a:bodyPr/>
          <a:lstStyle/>
          <a:p>
            <a:r>
              <a:rPr lang="fr-FR" sz="3600" dirty="0"/>
              <a:t>Seuillage multi-niveaux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00808"/>
            <a:ext cx="10972800" cy="4166592"/>
          </a:xfrm>
        </p:spPr>
        <p:txBody>
          <a:bodyPr/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Définition : </a:t>
            </a:r>
            <a:r>
              <a:rPr lang="fr-FR" sz="2400" dirty="0" smtClean="0"/>
              <a:t>Le </a:t>
            </a:r>
            <a:r>
              <a:rPr lang="fr-FR" sz="2400" b="1" dirty="0"/>
              <a:t>seuillage multi-niveaux</a:t>
            </a:r>
            <a:r>
              <a:rPr lang="fr-FR" sz="2400" dirty="0"/>
              <a:t> est une extension du seuillage global classique.</a:t>
            </a:r>
          </a:p>
          <a:p>
            <a:r>
              <a:rPr lang="fr-FR" sz="2400" dirty="0"/>
              <a:t>Au lieu d’un </a:t>
            </a:r>
            <a:r>
              <a:rPr lang="fr-FR" sz="2400" b="1" dirty="0"/>
              <a:t>seuil unique T</a:t>
            </a:r>
            <a:r>
              <a:rPr lang="fr-FR" sz="2400" dirty="0"/>
              <a:t>, on choisit </a:t>
            </a:r>
            <a:r>
              <a:rPr lang="fr-FR" sz="2400" b="1" dirty="0"/>
              <a:t>plusieurs seuils</a:t>
            </a:r>
            <a:r>
              <a:rPr lang="fr-FR" sz="2400" dirty="0"/>
              <a:t> :</a:t>
            </a:r>
          </a:p>
          <a:p>
            <a:pPr marL="0" indent="0" algn="ctr">
              <a:buNone/>
            </a:pPr>
            <a:r>
              <a:rPr lang="fr-FR" sz="2400" dirty="0"/>
              <a:t>T1,T2,...,</a:t>
            </a:r>
            <a:r>
              <a:rPr lang="fr-FR" sz="2400" dirty="0" err="1" smtClean="0"/>
              <a:t>Tn</a:t>
            </a:r>
            <a:endParaRPr lang="fr-FR" sz="2400" dirty="0" smtClean="0"/>
          </a:p>
          <a:p>
            <a:r>
              <a:rPr lang="fr-FR" sz="2400" dirty="0" smtClean="0"/>
              <a:t>L’image </a:t>
            </a:r>
            <a:r>
              <a:rPr lang="fr-FR" sz="2400" dirty="0"/>
              <a:t>est ainsi découpée en </a:t>
            </a:r>
            <a:r>
              <a:rPr lang="fr-FR" sz="2400" b="1" dirty="0"/>
              <a:t>plusieurs classes d’intensités</a:t>
            </a:r>
            <a:r>
              <a:rPr lang="fr-FR" sz="2400" dirty="0"/>
              <a:t>.</a:t>
            </a:r>
          </a:p>
          <a:p>
            <a:r>
              <a:rPr lang="fr-FR" sz="2400" dirty="0" smtClean="0"/>
              <a:t>Exemple </a:t>
            </a:r>
            <a:r>
              <a:rPr lang="fr-FR" sz="2400" dirty="0"/>
              <a:t>avec deux seuils </a:t>
            </a:r>
            <a:r>
              <a:rPr lang="fr-FR" sz="2400" dirty="0" smtClean="0"/>
              <a:t>T1​ </a:t>
            </a:r>
            <a:r>
              <a:rPr lang="fr-FR" sz="2400" dirty="0"/>
              <a:t>et </a:t>
            </a:r>
            <a:r>
              <a:rPr lang="fr-FR" sz="2400" dirty="0" smtClean="0"/>
              <a:t>T2​ </a:t>
            </a:r>
            <a:r>
              <a:rPr lang="fr-FR" sz="2400" dirty="0"/>
              <a:t>:</a:t>
            </a:r>
          </a:p>
          <a:p>
            <a:pPr lvl="1"/>
            <a:r>
              <a:rPr lang="fr-FR" sz="2000" dirty="0"/>
              <a:t>Si I(</a:t>
            </a:r>
            <a:r>
              <a:rPr lang="fr-FR" sz="2000" dirty="0" err="1"/>
              <a:t>x,y</a:t>
            </a:r>
            <a:r>
              <a:rPr lang="fr-FR" sz="2000" dirty="0"/>
              <a:t>)&lt;</a:t>
            </a:r>
            <a:r>
              <a:rPr lang="fr-FR" sz="2000" dirty="0" smtClean="0"/>
              <a:t>T1​ </a:t>
            </a:r>
            <a:r>
              <a:rPr lang="fr-FR" sz="2000" dirty="0"/>
              <a:t>→ pixel noir (classe 1).</a:t>
            </a:r>
          </a:p>
          <a:p>
            <a:pPr lvl="1"/>
            <a:r>
              <a:rPr lang="fr-FR" sz="2000" dirty="0"/>
              <a:t>Si T1≤I(</a:t>
            </a:r>
            <a:r>
              <a:rPr lang="fr-FR" sz="2000" dirty="0" err="1"/>
              <a:t>x,y</a:t>
            </a:r>
            <a:r>
              <a:rPr lang="fr-FR" sz="2000" dirty="0"/>
              <a:t>)&lt;</a:t>
            </a:r>
            <a:r>
              <a:rPr lang="fr-FR" sz="2000" dirty="0" smtClean="0"/>
              <a:t>T2​ </a:t>
            </a:r>
            <a:r>
              <a:rPr lang="fr-FR" sz="2000" dirty="0"/>
              <a:t>→ pixel gris (classe 2).</a:t>
            </a:r>
          </a:p>
          <a:p>
            <a:pPr lvl="1"/>
            <a:r>
              <a:rPr lang="fr-FR" sz="2000" dirty="0"/>
              <a:t>Si I(</a:t>
            </a:r>
            <a:r>
              <a:rPr lang="fr-FR" sz="2000" dirty="0" err="1"/>
              <a:t>x,y</a:t>
            </a:r>
            <a:r>
              <a:rPr lang="fr-FR" sz="2000" dirty="0"/>
              <a:t>)≥</a:t>
            </a:r>
            <a:r>
              <a:rPr lang="fr-FR" sz="2000" dirty="0" smtClean="0"/>
              <a:t>T2​ </a:t>
            </a:r>
            <a:r>
              <a:rPr lang="fr-FR" sz="2000" dirty="0"/>
              <a:t>→ pixel blanc (classe 3).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16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481686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571288"/>
            <a:ext cx="10972800" cy="5134312"/>
          </a:xfrm>
        </p:spPr>
        <p:txBody>
          <a:bodyPr/>
          <a:lstStyle/>
          <a:p>
            <a:r>
              <a:rPr lang="fr-FR" sz="2400" b="1" dirty="0">
                <a:solidFill>
                  <a:srgbClr val="FF0000"/>
                </a:solidFill>
              </a:rPr>
              <a:t>Principe</a:t>
            </a:r>
            <a:r>
              <a:rPr lang="fr-FR" sz="2400" b="1" dirty="0"/>
              <a:t> </a:t>
            </a:r>
          </a:p>
          <a:p>
            <a:pPr lvl="1"/>
            <a:r>
              <a:rPr lang="fr-FR" sz="2000" dirty="0"/>
              <a:t>Le seuillage global sépare seulement </a:t>
            </a:r>
            <a:r>
              <a:rPr lang="fr-FR" sz="2000" b="1" dirty="0"/>
              <a:t>objet vs fond</a:t>
            </a:r>
            <a:r>
              <a:rPr lang="fr-FR" sz="2000" dirty="0"/>
              <a:t>.</a:t>
            </a:r>
          </a:p>
          <a:p>
            <a:pPr lvl="1"/>
            <a:r>
              <a:rPr lang="fr-FR" sz="2000" dirty="0"/>
              <a:t>Le seuillage multi-niveaux permet de séparer </a:t>
            </a:r>
            <a:r>
              <a:rPr lang="fr-FR" sz="2000" b="1" dirty="0"/>
              <a:t>plusieurs régions d’intérêt</a:t>
            </a:r>
            <a:r>
              <a:rPr lang="fr-FR" sz="2000" dirty="0"/>
              <a:t>.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Exemple</a:t>
            </a:r>
            <a:r>
              <a:rPr lang="fr-FR" sz="2400" dirty="0" smtClean="0"/>
              <a:t> </a:t>
            </a:r>
            <a:r>
              <a:rPr lang="fr-FR" sz="2400" dirty="0"/>
              <a:t>:</a:t>
            </a:r>
          </a:p>
          <a:p>
            <a:pPr lvl="1"/>
            <a:r>
              <a:rPr lang="fr-FR" sz="2000" dirty="0"/>
              <a:t>Radiographie → séparer </a:t>
            </a:r>
            <a:r>
              <a:rPr lang="fr-FR" sz="2000" b="1" dirty="0"/>
              <a:t>air (noir)</a:t>
            </a:r>
            <a:r>
              <a:rPr lang="fr-FR" sz="2000" dirty="0"/>
              <a:t>, </a:t>
            </a:r>
            <a:r>
              <a:rPr lang="fr-FR" sz="2000" b="1" dirty="0"/>
              <a:t>tissus mous (gris)</a:t>
            </a:r>
            <a:r>
              <a:rPr lang="fr-FR" sz="2000" dirty="0"/>
              <a:t>, </a:t>
            </a:r>
            <a:r>
              <a:rPr lang="fr-FR" sz="2000" b="1" dirty="0"/>
              <a:t>os (blanc)</a:t>
            </a:r>
            <a:r>
              <a:rPr lang="fr-FR" sz="2000" dirty="0"/>
              <a:t>.</a:t>
            </a:r>
          </a:p>
          <a:p>
            <a:pPr lvl="1"/>
            <a:r>
              <a:rPr lang="fr-FR" sz="2000" dirty="0"/>
              <a:t>Photo satellite → distinguer </a:t>
            </a:r>
            <a:r>
              <a:rPr lang="fr-FR" sz="2000" b="1" dirty="0"/>
              <a:t>eau, végétation, sol</a:t>
            </a:r>
            <a:r>
              <a:rPr lang="fr-FR" sz="2000" dirty="0" smtClean="0"/>
              <a:t>.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Avantages</a:t>
            </a:r>
          </a:p>
          <a:p>
            <a:pPr lvl="1"/>
            <a:r>
              <a:rPr lang="fr-FR" sz="2000" dirty="0"/>
              <a:t>Permet de distinguer plusieurs objets / zones dans une seule image.</a:t>
            </a:r>
          </a:p>
          <a:p>
            <a:pPr lvl="1"/>
            <a:r>
              <a:rPr lang="fr-FR" sz="2000" dirty="0"/>
              <a:t>Très utile pour des </a:t>
            </a:r>
            <a:r>
              <a:rPr lang="fr-FR" sz="2000" b="1" dirty="0"/>
              <a:t>images médicales</a:t>
            </a:r>
            <a:r>
              <a:rPr lang="fr-FR" sz="2000" dirty="0"/>
              <a:t>, </a:t>
            </a:r>
            <a:r>
              <a:rPr lang="fr-FR" sz="2000" b="1" dirty="0"/>
              <a:t>satellites</a:t>
            </a:r>
            <a:r>
              <a:rPr lang="fr-FR" sz="2000" dirty="0"/>
              <a:t>, ou </a:t>
            </a:r>
            <a:r>
              <a:rPr lang="fr-FR" sz="2000" b="1" dirty="0"/>
              <a:t>industrielles</a:t>
            </a:r>
            <a:r>
              <a:rPr lang="fr-FR" sz="2000" dirty="0"/>
              <a:t>.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Limites</a:t>
            </a:r>
          </a:p>
          <a:p>
            <a:pPr lvl="1"/>
            <a:r>
              <a:rPr lang="fr-FR" sz="2000" dirty="0"/>
              <a:t>Choix des seuils T1,T2</a:t>
            </a:r>
            <a:r>
              <a:rPr lang="fr-FR" sz="2000" dirty="0" smtClean="0"/>
              <a:t>,… </a:t>
            </a:r>
            <a:r>
              <a:rPr lang="fr-FR" sz="2000" dirty="0"/>
              <a:t>pas toujours évident.</a:t>
            </a:r>
          </a:p>
          <a:p>
            <a:pPr lvl="1"/>
            <a:r>
              <a:rPr lang="fr-FR" sz="2000" dirty="0"/>
              <a:t>Si les classes d’intensité ne sont pas bien séparées, ça donne des erreurs.</a:t>
            </a:r>
          </a:p>
          <a:p>
            <a:pPr lvl="1"/>
            <a:r>
              <a:rPr lang="fr-FR" sz="2000" dirty="0"/>
              <a:t>Sensible au bruit → nécessite parfois un </a:t>
            </a:r>
            <a:r>
              <a:rPr lang="fr-FR" sz="2000" b="1" dirty="0"/>
              <a:t>lissage préalable</a:t>
            </a:r>
            <a:r>
              <a:rPr lang="fr-FR" sz="2000" dirty="0"/>
              <a:t> (filtre Gaussien).</a:t>
            </a:r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17</a:t>
            </a:fld>
            <a:endParaRPr lang="fr-FR" altLang="fr-FR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95536"/>
          </a:xfrm>
        </p:spPr>
        <p:txBody>
          <a:bodyPr/>
          <a:lstStyle/>
          <a:p>
            <a:r>
              <a:rPr lang="fr-FR" sz="3600" dirty="0"/>
              <a:t>Seuillage multi-niveaux</a:t>
            </a:r>
          </a:p>
        </p:txBody>
      </p:sp>
    </p:spTree>
    <p:extLst>
      <p:ext uri="{BB962C8B-B14F-4D97-AF65-F5344CB8AC3E}">
        <p14:creationId xmlns:p14="http://schemas.microsoft.com/office/powerpoint/2010/main" val="1345048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00808"/>
            <a:ext cx="10972800" cy="576064"/>
          </a:xfrm>
        </p:spPr>
        <p:txBody>
          <a:bodyPr/>
          <a:lstStyle/>
          <a:p>
            <a:r>
              <a:rPr lang="fr-FR" sz="2800" dirty="0" smtClean="0"/>
              <a:t>Exemple</a:t>
            </a:r>
            <a:endParaRPr lang="fr-FR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18</a:t>
            </a:fld>
            <a:endParaRPr lang="fr-FR" altLang="fr-FR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476672"/>
            <a:ext cx="10972800" cy="595536"/>
          </a:xfrm>
        </p:spPr>
        <p:txBody>
          <a:bodyPr/>
          <a:lstStyle/>
          <a:p>
            <a:r>
              <a:rPr lang="fr-FR" sz="3600" dirty="0"/>
              <a:t>Seuillage multi-niveaux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696" y="1772816"/>
            <a:ext cx="7249537" cy="200052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2" y="4115543"/>
            <a:ext cx="6480720" cy="254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208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95536"/>
          </a:xfrm>
        </p:spPr>
        <p:txBody>
          <a:bodyPr/>
          <a:lstStyle/>
          <a:p>
            <a:r>
              <a:rPr lang="fr-FR" sz="3600" dirty="0" smtClean="0"/>
              <a:t>Seuillage automatique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28800"/>
            <a:ext cx="10972800" cy="4238600"/>
          </a:xfrm>
        </p:spPr>
        <p:txBody>
          <a:bodyPr/>
          <a:lstStyle/>
          <a:p>
            <a:r>
              <a:rPr lang="fr-FR" b="1" dirty="0" smtClean="0">
                <a:solidFill>
                  <a:srgbClr val="FF0000"/>
                </a:solidFill>
              </a:rPr>
              <a:t>Définition</a:t>
            </a:r>
            <a:r>
              <a:rPr lang="fr-FR" b="1" dirty="0" smtClean="0"/>
              <a:t> : </a:t>
            </a:r>
            <a:r>
              <a:rPr lang="fr-FR" dirty="0" smtClean="0"/>
              <a:t>Le </a:t>
            </a:r>
            <a:r>
              <a:rPr lang="fr-FR" b="1" dirty="0"/>
              <a:t>seuillage automatique</a:t>
            </a:r>
            <a:r>
              <a:rPr lang="fr-FR" dirty="0"/>
              <a:t> est une technique qui </a:t>
            </a:r>
            <a:r>
              <a:rPr lang="fr-FR" b="1" dirty="0"/>
              <a:t>détermine le seuil tout seul</a:t>
            </a:r>
            <a:r>
              <a:rPr lang="fr-FR" dirty="0"/>
              <a:t>, sans que l’utilisateur ait besoin de le fixer </a:t>
            </a:r>
            <a:r>
              <a:rPr lang="fr-FR" dirty="0" smtClean="0"/>
              <a:t>manuellement.</a:t>
            </a:r>
          </a:p>
          <a:p>
            <a:r>
              <a:rPr lang="fr-FR" dirty="0" smtClean="0"/>
              <a:t>C’est </a:t>
            </a:r>
            <a:r>
              <a:rPr lang="fr-FR" dirty="0"/>
              <a:t>utile car on n’a pas toujours une idée du bon seuil (surtout si l’image change de luminosité).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19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88642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28800"/>
            <a:ext cx="10972800" cy="5076800"/>
          </a:xfrm>
        </p:spPr>
        <p:txBody>
          <a:bodyPr/>
          <a:lstStyle/>
          <a:p>
            <a:r>
              <a:rPr lang="fr-FR" sz="2400" b="1" dirty="0" smtClean="0"/>
              <a:t>Méthodes courantes</a:t>
            </a:r>
            <a:endParaRPr lang="fr-FR" sz="2400" b="1" dirty="0"/>
          </a:p>
          <a:p>
            <a:pPr marL="971550" lvl="1" indent="-514350">
              <a:buSzPct val="100000"/>
              <a:buFont typeface="+mj-lt"/>
              <a:buAutoNum type="arabicPeriod"/>
            </a:pPr>
            <a:r>
              <a:rPr lang="fr-FR" sz="2000" b="1" dirty="0" smtClean="0"/>
              <a:t>Méthode d’Otsu (la </a:t>
            </a:r>
            <a:r>
              <a:rPr lang="fr-FR" sz="2000" b="1" dirty="0"/>
              <a:t>plus </a:t>
            </a:r>
            <a:r>
              <a:rPr lang="fr-FR" sz="2000" b="1" dirty="0" smtClean="0"/>
              <a:t>célèbre)</a:t>
            </a:r>
            <a:endParaRPr lang="fr-FR" sz="2000" b="1" dirty="0"/>
          </a:p>
          <a:p>
            <a:pPr lvl="2"/>
            <a:r>
              <a:rPr lang="fr-FR" sz="2000" dirty="0"/>
              <a:t>Elle choisit le seuil </a:t>
            </a:r>
            <a:r>
              <a:rPr lang="fr-FR" sz="2000" dirty="0" smtClean="0"/>
              <a:t>T </a:t>
            </a:r>
            <a:r>
              <a:rPr lang="fr-FR" sz="2000" dirty="0"/>
              <a:t>qui minimise la variance intra-classes (pixels de même classe sont le plus homogènes possible).</a:t>
            </a:r>
          </a:p>
          <a:p>
            <a:pPr lvl="2"/>
            <a:r>
              <a:rPr lang="fr-FR" sz="2000" dirty="0"/>
              <a:t>Autrement dit, Otsu cherche le seuil qui sépare au mieux deux classes : </a:t>
            </a:r>
            <a:r>
              <a:rPr lang="fr-FR" sz="2000" dirty="0">
                <a:solidFill>
                  <a:srgbClr val="FF0000"/>
                </a:solidFill>
              </a:rPr>
              <a:t>objet</a:t>
            </a:r>
            <a:r>
              <a:rPr lang="fr-FR" sz="2000" dirty="0"/>
              <a:t> et </a:t>
            </a:r>
            <a:r>
              <a:rPr lang="fr-FR" sz="2000" dirty="0">
                <a:solidFill>
                  <a:srgbClr val="FF0000"/>
                </a:solidFill>
              </a:rPr>
              <a:t>fond</a:t>
            </a:r>
            <a:r>
              <a:rPr lang="fr-FR" sz="2000" dirty="0"/>
              <a:t>.</a:t>
            </a:r>
          </a:p>
          <a:p>
            <a:pPr lvl="2"/>
            <a:r>
              <a:rPr lang="fr-FR" sz="2000" u="sng" dirty="0" smtClean="0"/>
              <a:t>Étapes </a:t>
            </a:r>
            <a:r>
              <a:rPr lang="fr-FR" sz="2000" u="sng" dirty="0"/>
              <a:t>simplifiées :</a:t>
            </a:r>
          </a:p>
          <a:p>
            <a:pPr lvl="3"/>
            <a:r>
              <a:rPr lang="fr-FR" dirty="0"/>
              <a:t>On calcule l’histogramme de l’image.</a:t>
            </a:r>
          </a:p>
          <a:p>
            <a:pPr lvl="3"/>
            <a:r>
              <a:rPr lang="fr-FR" dirty="0"/>
              <a:t>On teste tous les seuils possibles.</a:t>
            </a:r>
          </a:p>
          <a:p>
            <a:pPr lvl="3"/>
            <a:r>
              <a:rPr lang="fr-FR" dirty="0"/>
              <a:t>On garde celui qui minimise la variance interne (ou maximise la variance entre classes).</a:t>
            </a:r>
          </a:p>
          <a:p>
            <a:pPr marL="971550" lvl="1" indent="-514350">
              <a:buSzPct val="100000"/>
              <a:buFont typeface="+mj-lt"/>
              <a:buAutoNum type="arabicPeriod"/>
            </a:pPr>
            <a:r>
              <a:rPr lang="fr-FR" sz="2000" b="1" dirty="0" smtClean="0"/>
              <a:t>Autres </a:t>
            </a:r>
            <a:r>
              <a:rPr lang="fr-FR" sz="2000" b="1" dirty="0"/>
              <a:t>méthodes</a:t>
            </a:r>
          </a:p>
          <a:p>
            <a:pPr lvl="2"/>
            <a:r>
              <a:rPr lang="fr-FR" sz="2000" b="1" dirty="0"/>
              <a:t>Entropie de </a:t>
            </a:r>
            <a:r>
              <a:rPr lang="fr-FR" sz="2000" b="1" dirty="0" err="1"/>
              <a:t>Kapur</a:t>
            </a:r>
            <a:r>
              <a:rPr lang="fr-FR" sz="2000" dirty="0"/>
              <a:t> : choisit le seuil qui maximise l’entropie des classes.</a:t>
            </a:r>
          </a:p>
          <a:p>
            <a:pPr lvl="2"/>
            <a:r>
              <a:rPr lang="fr-FR" sz="2000" b="1" dirty="0" err="1"/>
              <a:t>IsoData</a:t>
            </a:r>
            <a:r>
              <a:rPr lang="fr-FR" sz="2000" dirty="0"/>
              <a:t> / </a:t>
            </a:r>
            <a:r>
              <a:rPr lang="fr-FR" sz="2000" b="1" dirty="0"/>
              <a:t>Méthode itérative </a:t>
            </a:r>
            <a:r>
              <a:rPr lang="fr-FR" sz="2000" dirty="0"/>
              <a:t>: ajuste le seuil à partir de la moyenne des intensités des deux classes jusqu’à stabilisation.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20</a:t>
            </a:fld>
            <a:endParaRPr lang="fr-FR" altLang="fr-FR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95536"/>
          </a:xfrm>
        </p:spPr>
        <p:txBody>
          <a:bodyPr/>
          <a:lstStyle/>
          <a:p>
            <a:r>
              <a:rPr lang="fr-FR" sz="3600" dirty="0" smtClean="0"/>
              <a:t>Seuillage automatique</a:t>
            </a:r>
            <a:endParaRPr lang="fr-FR" sz="3600" dirty="0"/>
          </a:p>
        </p:txBody>
      </p:sp>
      <p:sp>
        <p:nvSpPr>
          <p:cNvPr id="10" name="Rectangle 9"/>
          <p:cNvSpPr/>
          <p:nvPr/>
        </p:nvSpPr>
        <p:spPr>
          <a:xfrm rot="20606729">
            <a:off x="5591188" y="1146534"/>
            <a:ext cx="6480720" cy="432048"/>
          </a:xfrm>
          <a:prstGeom prst="rect">
            <a:avLst/>
          </a:prstGeom>
          <a:solidFill>
            <a:srgbClr val="FFE79B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cv2.threshold(</a:t>
            </a:r>
            <a:r>
              <a:rPr lang="en-US" b="1" dirty="0" err="1">
                <a:solidFill>
                  <a:schemeClr val="tx1"/>
                </a:solidFill>
              </a:rPr>
              <a:t>img</a:t>
            </a:r>
            <a:r>
              <a:rPr lang="en-US" b="1" dirty="0">
                <a:solidFill>
                  <a:schemeClr val="tx1"/>
                </a:solidFill>
              </a:rPr>
              <a:t>, 0, 255, cv2.THRESH_BINARY + </a:t>
            </a:r>
            <a:r>
              <a:rPr lang="en-US" b="1" dirty="0">
                <a:solidFill>
                  <a:srgbClr val="FF0000"/>
                </a:solidFill>
              </a:rPr>
              <a:t>cv2.THRESH_OTSU</a:t>
            </a:r>
            <a:r>
              <a:rPr lang="en-US" b="1" dirty="0">
                <a:solidFill>
                  <a:schemeClr val="tx1"/>
                </a:solidFill>
              </a:rPr>
              <a:t>)</a:t>
            </a:r>
            <a:endParaRPr lang="fr-FR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46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28800"/>
            <a:ext cx="10972800" cy="4238600"/>
          </a:xfrm>
        </p:spPr>
        <p:txBody>
          <a:bodyPr/>
          <a:lstStyle/>
          <a:p>
            <a:r>
              <a:rPr lang="fr-FR" sz="2400" dirty="0">
                <a:solidFill>
                  <a:srgbClr val="FF0000"/>
                </a:solidFill>
              </a:rPr>
              <a:t>Avantages</a:t>
            </a:r>
          </a:p>
          <a:p>
            <a:pPr lvl="1"/>
            <a:r>
              <a:rPr lang="fr-FR" sz="2000" dirty="0"/>
              <a:t>Pas besoin de choisir </a:t>
            </a:r>
          </a:p>
          <a:p>
            <a:pPr lvl="1"/>
            <a:r>
              <a:rPr lang="fr-FR" sz="2000" dirty="0"/>
              <a:t>T soi-même.</a:t>
            </a:r>
          </a:p>
          <a:p>
            <a:pPr lvl="1"/>
            <a:r>
              <a:rPr lang="fr-FR" sz="2000" dirty="0"/>
              <a:t>Rapide et robuste si l’histogramme est bimodal (2 pics bien séparés).</a:t>
            </a:r>
          </a:p>
          <a:p>
            <a:r>
              <a:rPr lang="fr-FR" sz="2400" dirty="0" smtClean="0">
                <a:solidFill>
                  <a:srgbClr val="FF0000"/>
                </a:solidFill>
              </a:rPr>
              <a:t>Limites</a:t>
            </a:r>
            <a:endParaRPr lang="fr-FR" sz="2400" dirty="0">
              <a:solidFill>
                <a:srgbClr val="FF0000"/>
              </a:solidFill>
            </a:endParaRPr>
          </a:p>
          <a:p>
            <a:pPr lvl="1"/>
            <a:r>
              <a:rPr lang="fr-FR" sz="2000" dirty="0"/>
              <a:t>Suppose que l’image est composée de 2 classes principales → si l’image contient plusieurs objets → résultats moyens.</a:t>
            </a:r>
          </a:p>
          <a:p>
            <a:pPr lvl="1"/>
            <a:r>
              <a:rPr lang="fr-FR" sz="2000" dirty="0"/>
              <a:t>Sensible au bruit et aux variations d’éclairage → nécessite parfois un filtrage avant (ex. flou gaussien).</a:t>
            </a:r>
          </a:p>
          <a:p>
            <a:r>
              <a:rPr lang="fr-FR" sz="2400" dirty="0" smtClean="0"/>
              <a:t>En </a:t>
            </a:r>
            <a:r>
              <a:rPr lang="fr-FR" sz="2400" dirty="0"/>
              <a:t>résumé :</a:t>
            </a:r>
          </a:p>
          <a:p>
            <a:pPr lvl="1"/>
            <a:r>
              <a:rPr lang="fr-FR" sz="2000" dirty="0"/>
              <a:t>Seuillage manuel → on fixe </a:t>
            </a:r>
            <a:r>
              <a:rPr lang="fr-FR" sz="2000" dirty="0" smtClean="0"/>
              <a:t>T </a:t>
            </a:r>
            <a:r>
              <a:rPr lang="fr-FR" sz="2000" dirty="0"/>
              <a:t>à la main.</a:t>
            </a:r>
          </a:p>
          <a:p>
            <a:pPr lvl="1"/>
            <a:r>
              <a:rPr lang="fr-FR" sz="2000" dirty="0"/>
              <a:t>Seuillage automatique (Otsu, etc.) → l’algorithme </a:t>
            </a:r>
            <a:r>
              <a:rPr lang="fr-FR" sz="2000" dirty="0" smtClean="0"/>
              <a:t>calcule T </a:t>
            </a:r>
            <a:r>
              <a:rPr lang="fr-FR" sz="2000" dirty="0"/>
              <a:t>de façon optimale.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21</a:t>
            </a:fld>
            <a:endParaRPr lang="fr-FR" altLang="fr-FR"/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95536"/>
          </a:xfrm>
        </p:spPr>
        <p:txBody>
          <a:bodyPr/>
          <a:lstStyle/>
          <a:p>
            <a:r>
              <a:rPr lang="fr-FR" sz="3600" dirty="0" smtClean="0"/>
              <a:t>Seuillage automatique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3856420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28800"/>
            <a:ext cx="10972800" cy="576064"/>
          </a:xfrm>
        </p:spPr>
        <p:txBody>
          <a:bodyPr/>
          <a:lstStyle/>
          <a:p>
            <a:r>
              <a:rPr lang="fr-FR" sz="2800" dirty="0" smtClean="0"/>
              <a:t>Exemple</a:t>
            </a:r>
            <a:endParaRPr lang="fr-FR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22</a:t>
            </a:fld>
            <a:endParaRPr lang="fr-FR" altLang="fr-FR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95536"/>
          </a:xfrm>
        </p:spPr>
        <p:txBody>
          <a:bodyPr/>
          <a:lstStyle/>
          <a:p>
            <a:r>
              <a:rPr lang="fr-FR" sz="3600" dirty="0" smtClean="0"/>
              <a:t>Seuillage automatique</a:t>
            </a:r>
            <a:endParaRPr lang="fr-FR" sz="36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688" y="1930255"/>
            <a:ext cx="7640116" cy="115268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3395812"/>
            <a:ext cx="6301672" cy="323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462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67544"/>
          </a:xfrm>
        </p:spPr>
        <p:txBody>
          <a:bodyPr/>
          <a:lstStyle/>
          <a:p>
            <a:r>
              <a:rPr lang="fr-FR" sz="3600" dirty="0" smtClean="0"/>
              <a:t>Seuillage et projets proposés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28800"/>
            <a:ext cx="10972800" cy="4742656"/>
          </a:xfrm>
        </p:spPr>
        <p:txBody>
          <a:bodyPr/>
          <a:lstStyle/>
          <a:p>
            <a:pPr marL="457200" indent="-457200">
              <a:buClr>
                <a:schemeClr val="bg2">
                  <a:lumMod val="60000"/>
                  <a:lumOff val="40000"/>
                </a:schemeClr>
              </a:buClr>
              <a:buSzPct val="100000"/>
              <a:buAutoNum type="arabicPeriod"/>
            </a:pPr>
            <a:r>
              <a:rPr lang="fr-FR" sz="2400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Détection </a:t>
            </a:r>
            <a:r>
              <a:rPr lang="fr-FR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précoce </a:t>
            </a:r>
            <a:r>
              <a:rPr lang="fr-FR" sz="2400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des </a:t>
            </a:r>
            <a:r>
              <a:rPr lang="fr-FR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maladies des </a:t>
            </a:r>
            <a:r>
              <a:rPr lang="fr-FR" sz="2400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plantes</a:t>
            </a:r>
          </a:p>
          <a:p>
            <a:pPr marL="457200" indent="-457200">
              <a:buAutoNum type="arabicPeriod"/>
            </a:pPr>
            <a:endParaRPr lang="fr-FR" sz="1000" b="1" dirty="0"/>
          </a:p>
          <a:p>
            <a:r>
              <a:rPr lang="fr-FR" sz="2400" b="1" dirty="0">
                <a:solidFill>
                  <a:srgbClr val="FF0000"/>
                </a:solidFill>
              </a:rPr>
              <a:t>Problème</a:t>
            </a:r>
            <a:r>
              <a:rPr lang="fr-FR" sz="2400" dirty="0"/>
              <a:t> : distinguer une feuille saine d’une feuille malade (taches, décolorations).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Utilité du seuillage</a:t>
            </a:r>
            <a:r>
              <a:rPr lang="fr-FR" sz="2400" dirty="0">
                <a:solidFill>
                  <a:srgbClr val="FF0000"/>
                </a:solidFill>
              </a:rPr>
              <a:t> :</a:t>
            </a:r>
          </a:p>
          <a:p>
            <a:pPr lvl="1"/>
            <a:r>
              <a:rPr lang="fr-FR" sz="2000" dirty="0"/>
              <a:t>Segmenter les zones suspectes (plus sombres ou plus claires que le reste de la feuille).</a:t>
            </a:r>
          </a:p>
          <a:p>
            <a:pPr lvl="1"/>
            <a:r>
              <a:rPr lang="fr-FR" sz="2000" dirty="0" err="1"/>
              <a:t>Binariser</a:t>
            </a:r>
            <a:r>
              <a:rPr lang="fr-FR" sz="2000" dirty="0"/>
              <a:t> l’image pour isoler les régions anormales avant une analyse de texture ou de couleur.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Exemple</a:t>
            </a:r>
            <a:r>
              <a:rPr lang="fr-FR" sz="2400" dirty="0">
                <a:solidFill>
                  <a:srgbClr val="FF0000"/>
                </a:solidFill>
              </a:rPr>
              <a:t> : </a:t>
            </a:r>
            <a:r>
              <a:rPr lang="fr-FR" sz="2400" dirty="0"/>
              <a:t>seuillage sur le canal vert pour séparer feuille saine (vert uniforme) et zones malades (couleurs différentes).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23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8863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00808"/>
            <a:ext cx="10972800" cy="4547592"/>
          </a:xfrm>
        </p:spPr>
        <p:txBody>
          <a:bodyPr/>
          <a:lstStyle/>
          <a:p>
            <a:pPr marL="514350" indent="-514350">
              <a:buClr>
                <a:schemeClr val="bg2">
                  <a:lumMod val="60000"/>
                  <a:lumOff val="40000"/>
                </a:schemeClr>
              </a:buClr>
              <a:buSzPct val="100000"/>
              <a:buFont typeface="+mj-lt"/>
              <a:buAutoNum type="arabicPeriod" startAt="2"/>
            </a:pPr>
            <a:r>
              <a:rPr lang="fr-FR" sz="2400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Analyse </a:t>
            </a:r>
            <a:r>
              <a:rPr lang="fr-FR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d’images médicales pour la prévention de </a:t>
            </a:r>
            <a:r>
              <a:rPr lang="fr-FR" sz="2400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maladies</a:t>
            </a:r>
          </a:p>
          <a:p>
            <a:pPr marL="514350" indent="-514350">
              <a:buSzPct val="100000"/>
              <a:buFont typeface="+mj-lt"/>
              <a:buAutoNum type="arabicPeriod" startAt="2"/>
            </a:pPr>
            <a:endParaRPr lang="fr-FR" sz="8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r>
              <a:rPr lang="fr-FR" sz="2400" b="1" dirty="0">
                <a:solidFill>
                  <a:srgbClr val="FF0000"/>
                </a:solidFill>
              </a:rPr>
              <a:t>Problème</a:t>
            </a:r>
            <a:r>
              <a:rPr lang="fr-FR" sz="2400" dirty="0"/>
              <a:t> : détecter une anomalie (tumeur, calcification, masse anormale).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Utilité du seuillage</a:t>
            </a:r>
            <a:r>
              <a:rPr lang="fr-FR" sz="2400" dirty="0">
                <a:solidFill>
                  <a:srgbClr val="FF0000"/>
                </a:solidFill>
              </a:rPr>
              <a:t> :</a:t>
            </a:r>
          </a:p>
          <a:p>
            <a:pPr lvl="1"/>
            <a:r>
              <a:rPr lang="fr-FR" sz="2000" dirty="0"/>
              <a:t>Isoler les zones d’intérêt en fonction de leur intensité (par ex. os clairs vs tissus mous sombres dans une radiographie).</a:t>
            </a:r>
          </a:p>
          <a:p>
            <a:pPr lvl="1"/>
            <a:r>
              <a:rPr lang="fr-FR" sz="2000" dirty="0"/>
              <a:t>Préparer une segmentation plus avancée (</a:t>
            </a:r>
            <a:r>
              <a:rPr lang="fr-FR" sz="2000" dirty="0" err="1"/>
              <a:t>watershed</a:t>
            </a:r>
            <a:r>
              <a:rPr lang="fr-FR" sz="2000" dirty="0"/>
              <a:t>, contours, IA).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Exemple</a:t>
            </a:r>
            <a:r>
              <a:rPr lang="fr-FR" sz="2400" dirty="0">
                <a:solidFill>
                  <a:srgbClr val="FF0000"/>
                </a:solidFill>
              </a:rPr>
              <a:t> : </a:t>
            </a:r>
            <a:r>
              <a:rPr lang="fr-FR" sz="2400" dirty="0"/>
              <a:t>seuillage dans une IRM pour séparer le tissu cérébral normal d’une zone suspecte.</a:t>
            </a:r>
          </a:p>
          <a:p>
            <a:endParaRPr lang="fr-FR" sz="24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24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67544"/>
          </a:xfrm>
        </p:spPr>
        <p:txBody>
          <a:bodyPr/>
          <a:lstStyle/>
          <a:p>
            <a:r>
              <a:rPr lang="fr-FR" sz="3600" dirty="0" smtClean="0"/>
              <a:t>Seuillage et projets proposés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293448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556792"/>
            <a:ext cx="10972800" cy="4691608"/>
          </a:xfrm>
        </p:spPr>
        <p:txBody>
          <a:bodyPr/>
          <a:lstStyle/>
          <a:p>
            <a:pPr marL="0" indent="0">
              <a:buNone/>
            </a:pPr>
            <a:r>
              <a:rPr lang="fr-FR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3. Surveillance de la pollution et des déchets </a:t>
            </a:r>
            <a:r>
              <a:rPr lang="fr-FR" sz="2400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plastiques</a:t>
            </a:r>
          </a:p>
          <a:p>
            <a:pPr marL="0" indent="0">
              <a:buNone/>
            </a:pPr>
            <a:endParaRPr lang="fr-FR" sz="9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r>
              <a:rPr lang="fr-FR" sz="2400" b="1" dirty="0">
                <a:solidFill>
                  <a:srgbClr val="FF0000"/>
                </a:solidFill>
              </a:rPr>
              <a:t>Problème</a:t>
            </a:r>
            <a:r>
              <a:rPr lang="fr-FR" sz="2400" dirty="0"/>
              <a:t> : détecter des plastiques flottants dans l’eau ou sur une plage.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Utilité du seuillage</a:t>
            </a:r>
            <a:r>
              <a:rPr lang="fr-FR" sz="2400" dirty="0">
                <a:solidFill>
                  <a:srgbClr val="FF0000"/>
                </a:solidFill>
              </a:rPr>
              <a:t> :</a:t>
            </a:r>
          </a:p>
          <a:p>
            <a:pPr lvl="1"/>
            <a:r>
              <a:rPr lang="fr-FR" sz="2000" dirty="0"/>
              <a:t>Mettre en évidence des objets brillants ou de couleur différente du fond (plastique blanc sur eau sombre).</a:t>
            </a:r>
          </a:p>
          <a:p>
            <a:pPr lvl="1"/>
            <a:r>
              <a:rPr lang="fr-FR" sz="2000" dirty="0" err="1"/>
              <a:t>Binariser</a:t>
            </a:r>
            <a:r>
              <a:rPr lang="fr-FR" sz="2000" dirty="0"/>
              <a:t> pour compter ou mesurer la surface des déchets.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Exemple</a:t>
            </a:r>
            <a:r>
              <a:rPr lang="fr-FR" sz="2400" dirty="0">
                <a:solidFill>
                  <a:srgbClr val="FF0000"/>
                </a:solidFill>
              </a:rPr>
              <a:t> : </a:t>
            </a:r>
            <a:r>
              <a:rPr lang="fr-FR" sz="2400" dirty="0"/>
              <a:t>seuillage couleur (HSV) pour isoler les plastiques transparents ou blancs.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25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67544"/>
          </a:xfrm>
        </p:spPr>
        <p:txBody>
          <a:bodyPr/>
          <a:lstStyle/>
          <a:p>
            <a:r>
              <a:rPr lang="fr-FR" sz="3600" dirty="0" smtClean="0"/>
              <a:t>Seuillage et projets proposés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2566216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00808"/>
            <a:ext cx="10972800" cy="4166592"/>
          </a:xfrm>
        </p:spPr>
        <p:txBody>
          <a:bodyPr/>
          <a:lstStyle/>
          <a:p>
            <a:pPr marL="0" indent="0">
              <a:buNone/>
            </a:pPr>
            <a:r>
              <a:rPr lang="fr-FR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4. Accessibilité pour personnes </a:t>
            </a:r>
            <a:r>
              <a:rPr lang="fr-FR" sz="2400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malvoyantes</a:t>
            </a:r>
          </a:p>
          <a:p>
            <a:endParaRPr lang="fr-FR" sz="900" b="1" dirty="0"/>
          </a:p>
          <a:p>
            <a:r>
              <a:rPr lang="fr-FR" sz="2400" b="1" dirty="0">
                <a:solidFill>
                  <a:srgbClr val="FF0000"/>
                </a:solidFill>
              </a:rPr>
              <a:t>Problème</a:t>
            </a:r>
            <a:r>
              <a:rPr lang="fr-FR" sz="2400" dirty="0"/>
              <a:t> : aider à reconnaître des panneaux, du texte ou des obstacles.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Utilité du seuillage</a:t>
            </a:r>
            <a:r>
              <a:rPr lang="fr-FR" sz="2400" dirty="0">
                <a:solidFill>
                  <a:srgbClr val="FF0000"/>
                </a:solidFill>
              </a:rPr>
              <a:t> :</a:t>
            </a:r>
          </a:p>
          <a:p>
            <a:pPr lvl="1"/>
            <a:r>
              <a:rPr lang="fr-FR" sz="2000" dirty="0"/>
              <a:t>Transformer une image en noir/blanc très contrastée pour lecture simplifiée.</a:t>
            </a:r>
          </a:p>
          <a:p>
            <a:pPr lvl="1"/>
            <a:r>
              <a:rPr lang="fr-FR" sz="2000" dirty="0"/>
              <a:t>Extraire le texte (OCR) après seuillage.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Exemple</a:t>
            </a:r>
            <a:r>
              <a:rPr lang="fr-FR" sz="2400" dirty="0">
                <a:solidFill>
                  <a:srgbClr val="FF0000"/>
                </a:solidFill>
              </a:rPr>
              <a:t> : </a:t>
            </a:r>
            <a:r>
              <a:rPr lang="fr-FR" sz="2400" dirty="0"/>
              <a:t>prendre une image de texte, appliquer un seuillage pour obtenir un contraste maximal → lecture vocale facilitée.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26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67544"/>
          </a:xfrm>
        </p:spPr>
        <p:txBody>
          <a:bodyPr/>
          <a:lstStyle/>
          <a:p>
            <a:r>
              <a:rPr lang="fr-FR" sz="3600" dirty="0" smtClean="0"/>
              <a:t>Seuillage et projets proposés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387467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00808"/>
            <a:ext cx="10972800" cy="4166592"/>
          </a:xfrm>
        </p:spPr>
        <p:txBody>
          <a:bodyPr/>
          <a:lstStyle/>
          <a:p>
            <a:pPr marL="457200" indent="-457200">
              <a:buClr>
                <a:schemeClr val="bg2">
                  <a:lumMod val="60000"/>
                  <a:lumOff val="40000"/>
                </a:schemeClr>
              </a:buClr>
              <a:buSzPct val="100000"/>
              <a:buFont typeface="+mj-lt"/>
              <a:buAutoNum type="arabicPeriod" startAt="5"/>
            </a:pPr>
            <a:r>
              <a:rPr lang="fr-FR" sz="2400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Surveillance </a:t>
            </a:r>
            <a:r>
              <a:rPr lang="fr-FR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intelligente des foules et modélisation des comportements </a:t>
            </a:r>
            <a:r>
              <a:rPr lang="fr-FR" sz="2400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collectifs</a:t>
            </a:r>
          </a:p>
          <a:p>
            <a:endParaRPr lang="fr-FR" sz="900" b="1" dirty="0"/>
          </a:p>
          <a:p>
            <a:r>
              <a:rPr lang="fr-FR" sz="2400" b="1" dirty="0">
                <a:solidFill>
                  <a:srgbClr val="FF0000"/>
                </a:solidFill>
              </a:rPr>
              <a:t>Problème</a:t>
            </a:r>
            <a:r>
              <a:rPr lang="fr-FR" sz="2400" dirty="0"/>
              <a:t> : détecter et suivre des personnes dans une foule.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Utilité du seuillage</a:t>
            </a:r>
            <a:r>
              <a:rPr lang="fr-FR" sz="2400" dirty="0">
                <a:solidFill>
                  <a:srgbClr val="FF0000"/>
                </a:solidFill>
              </a:rPr>
              <a:t> :</a:t>
            </a:r>
          </a:p>
          <a:p>
            <a:pPr lvl="1"/>
            <a:r>
              <a:rPr lang="fr-FR" sz="2000" dirty="0"/>
              <a:t>Première étape de détection : seuillage après soustraction de fond pour isoler les silhouettes.</a:t>
            </a:r>
          </a:p>
          <a:p>
            <a:pPr lvl="1"/>
            <a:r>
              <a:rPr lang="fr-FR" sz="2000" dirty="0"/>
              <a:t>Ensuite, détection de contours ou suivi d’objets.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Exemple</a:t>
            </a:r>
            <a:r>
              <a:rPr lang="fr-FR" sz="2400" dirty="0"/>
              <a:t> : une caméra fixe → seuillage des zones en mouvement pour obtenir une carte binaire des personnes.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27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67544"/>
          </a:xfrm>
        </p:spPr>
        <p:txBody>
          <a:bodyPr/>
          <a:lstStyle/>
          <a:p>
            <a:r>
              <a:rPr lang="fr-FR" sz="3600" dirty="0" smtClean="0"/>
              <a:t>Seuillage et projets proposés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984000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95536"/>
          </a:xfrm>
        </p:spPr>
        <p:txBody>
          <a:bodyPr/>
          <a:lstStyle/>
          <a:p>
            <a:r>
              <a:rPr lang="fr-FR" sz="3600" dirty="0" smtClean="0"/>
              <a:t>A retenir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dirty="0"/>
              <a:t>Le seuillage n’est </a:t>
            </a:r>
            <a:r>
              <a:rPr lang="fr-FR" b="1" dirty="0">
                <a:solidFill>
                  <a:srgbClr val="FF0000"/>
                </a:solidFill>
              </a:rPr>
              <a:t>jamais la solution finale</a:t>
            </a:r>
            <a:r>
              <a:rPr lang="fr-FR" dirty="0"/>
              <a:t>, mais c’est </a:t>
            </a:r>
            <a:r>
              <a:rPr lang="fr-FR" b="1" dirty="0">
                <a:solidFill>
                  <a:srgbClr val="FF0000"/>
                </a:solidFill>
              </a:rPr>
              <a:t>la porte d’entrée</a:t>
            </a:r>
            <a:r>
              <a:rPr lang="fr-FR" dirty="0"/>
              <a:t> dans la </a:t>
            </a:r>
            <a:r>
              <a:rPr lang="fr-FR" dirty="0" smtClean="0"/>
              <a:t>segmentation. Il </a:t>
            </a:r>
            <a:r>
              <a:rPr lang="fr-FR" dirty="0"/>
              <a:t>simplifie l’image pour permettre des traitements plus avancés (morphologie, IA, </a:t>
            </a:r>
            <a:r>
              <a:rPr lang="fr-FR" dirty="0" err="1"/>
              <a:t>deep</a:t>
            </a:r>
            <a:r>
              <a:rPr lang="fr-FR" dirty="0"/>
              <a:t> </a:t>
            </a:r>
            <a:r>
              <a:rPr lang="fr-FR" dirty="0" err="1"/>
              <a:t>learning</a:t>
            </a:r>
            <a:r>
              <a:rPr lang="fr-FR" dirty="0"/>
              <a:t>).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067D3F-D454-4654-AB69-A17C6566BF85}" type="slidenum">
              <a:rPr lang="fr-FR" altLang="fr-FR" smtClean="0"/>
              <a:pPr>
                <a:defRPr/>
              </a:pPr>
              <a:t>28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5926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9031</TotalTime>
  <Words>1531</Words>
  <Application>Microsoft Office PowerPoint</Application>
  <PresentationFormat>Grand écran</PresentationFormat>
  <Paragraphs>221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4" baseType="lpstr">
      <vt:lpstr>Arial</vt:lpstr>
      <vt:lpstr>Arial Black</vt:lpstr>
      <vt:lpstr>Calibri</vt:lpstr>
      <vt:lpstr>Times New Roman</vt:lpstr>
      <vt:lpstr>Wingdings</vt:lpstr>
      <vt:lpstr>Pixel</vt:lpstr>
      <vt:lpstr>Seuillage</vt:lpstr>
      <vt:lpstr>Plan</vt:lpstr>
      <vt:lpstr>Introduction</vt:lpstr>
      <vt:lpstr>Définition</vt:lpstr>
      <vt:lpstr>Utilité du seuillage</vt:lpstr>
      <vt:lpstr>Types de seuillage</vt:lpstr>
      <vt:lpstr>Seuillage global (fixe)</vt:lpstr>
      <vt:lpstr>Seuillage global (fixe)</vt:lpstr>
      <vt:lpstr>Seuillage global (fixe)</vt:lpstr>
      <vt:lpstr>Seuillage global (fixe)</vt:lpstr>
      <vt:lpstr>Seuillage global (fixe)</vt:lpstr>
      <vt:lpstr>Seuillage adaptatif (local)</vt:lpstr>
      <vt:lpstr>Seuillage adaptatif (local)</vt:lpstr>
      <vt:lpstr>Seuillage adaptatif (local)</vt:lpstr>
      <vt:lpstr>Seuillage adaptatif (local)</vt:lpstr>
      <vt:lpstr>Seuillage multi-niveaux</vt:lpstr>
      <vt:lpstr>Seuillage multi-niveaux</vt:lpstr>
      <vt:lpstr>Seuillage multi-niveaux</vt:lpstr>
      <vt:lpstr>Seuillage automatique</vt:lpstr>
      <vt:lpstr>Seuillage automatique</vt:lpstr>
      <vt:lpstr>Seuillage automatique</vt:lpstr>
      <vt:lpstr>Seuillage automatique</vt:lpstr>
      <vt:lpstr>Seuillage et projets proposés</vt:lpstr>
      <vt:lpstr>Seuillage et projets proposés</vt:lpstr>
      <vt:lpstr>Seuillage et projets proposés</vt:lpstr>
      <vt:lpstr>Seuillage et projets proposés</vt:lpstr>
      <vt:lpstr>Seuillage et projets proposés</vt:lpstr>
      <vt:lpstr>A retenir</vt:lpstr>
    </vt:vector>
  </TitlesOfParts>
  <Company>Unicornis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Unicornis</dc:creator>
  <cp:lastModifiedBy>user</cp:lastModifiedBy>
  <cp:revision>908</cp:revision>
  <dcterms:created xsi:type="dcterms:W3CDTF">2009-12-10T23:26:45Z</dcterms:created>
  <dcterms:modified xsi:type="dcterms:W3CDTF">2025-10-16T08:06:04Z</dcterms:modified>
</cp:coreProperties>
</file>